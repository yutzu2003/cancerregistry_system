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8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9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80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84" r:id="rId11"/>
    <p:sldId id="266" r:id="rId12"/>
    <p:sldId id="281" r:id="rId13"/>
    <p:sldId id="283" r:id="rId14"/>
    <p:sldId id="267" r:id="rId15"/>
    <p:sldId id="268" r:id="rId16"/>
    <p:sldId id="269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339933"/>
    <a:srgbClr val="996633"/>
    <a:srgbClr val="CC66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0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2FFF4F-ADDC-4B38-9FAA-7276D836B71C}" type="datetimeFigureOut">
              <a:rPr lang="zh-TW" altLang="en-US" smtClean="0"/>
              <a:pPr/>
              <a:t>2026/10/20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E8E161-20D4-48AE-A91B-B1A9E8779C8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D144D2-E91B-4D25-92E2-82D6BF339393}" type="slidenum">
              <a:rPr lang="zh-TW" altLang="en-US" smtClean="0"/>
              <a:pPr>
                <a:defRPr/>
              </a:pPr>
              <a:t>3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D144D2-E91B-4D25-92E2-82D6BF339393}" type="slidenum">
              <a:rPr lang="zh-TW" altLang="en-US" smtClean="0"/>
              <a:pPr>
                <a:defRPr/>
              </a:pPr>
              <a:t>4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D144D2-E91B-4D25-92E2-82D6BF339393}" type="slidenum">
              <a:rPr lang="zh-TW" altLang="en-US" smtClean="0"/>
              <a:pPr>
                <a:defRPr/>
              </a:pPr>
              <a:t>5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D144D2-E91B-4D25-92E2-82D6BF339393}" type="slidenum">
              <a:rPr lang="zh-TW" altLang="en-US" smtClean="0"/>
              <a:pPr>
                <a:defRPr/>
              </a:pPr>
              <a:t>6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D144D2-E91B-4D25-92E2-82D6BF339393}" type="slidenum">
              <a:rPr lang="zh-TW" altLang="en-US" smtClean="0"/>
              <a:pPr>
                <a:defRPr/>
              </a:pPr>
              <a:t>7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D144D2-E91B-4D25-92E2-82D6BF339393}" type="slidenum">
              <a:rPr lang="zh-TW" altLang="en-US" smtClean="0"/>
              <a:pPr>
                <a:defRPr/>
              </a:pPr>
              <a:t>8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D144D2-E91B-4D25-92E2-82D6BF339393}" type="slidenum">
              <a:rPr lang="zh-TW" altLang="en-US" smtClean="0"/>
              <a:pPr>
                <a:defRPr/>
              </a:pPr>
              <a:t>9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D144D2-E91B-4D25-92E2-82D6BF339393}" type="slidenum">
              <a:rPr lang="zh-TW" altLang="en-US" smtClean="0"/>
              <a:pPr>
                <a:defRPr/>
              </a:pPr>
              <a:t>10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D144D2-E91B-4D25-92E2-82D6BF339393}" type="slidenum">
              <a:rPr lang="zh-TW" altLang="en-US" smtClean="0"/>
              <a:pPr>
                <a:defRPr/>
              </a:pPr>
              <a:t>11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D144D2-E91B-4D25-92E2-82D6BF339393}" type="slidenum">
              <a:rPr lang="zh-TW" altLang="en-US" smtClean="0"/>
              <a:pPr>
                <a:defRPr/>
              </a:pPr>
              <a:t>12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D144D2-E91B-4D25-92E2-82D6BF339393}" type="slidenum">
              <a:rPr lang="zh-TW" altLang="en-US" smtClean="0"/>
              <a:pPr>
                <a:defRPr/>
              </a:pPr>
              <a:t>13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D144D2-E91B-4D25-92E2-82D6BF339393}" type="slidenum">
              <a:rPr lang="zh-TW" altLang="en-US" smtClean="0"/>
              <a:pPr>
                <a:defRPr/>
              </a:pPr>
              <a:t>14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D144D2-E91B-4D25-92E2-82D6BF339393}" type="slidenum">
              <a:rPr lang="zh-TW" altLang="en-US" smtClean="0"/>
              <a:pPr>
                <a:defRPr/>
              </a:pPr>
              <a:t>15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D144D2-E91B-4D25-92E2-82D6BF339393}" type="slidenum">
              <a:rPr lang="zh-TW" altLang="en-US" smtClean="0"/>
              <a:pPr>
                <a:defRPr/>
              </a:pPr>
              <a:t>16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D144D2-E91B-4D25-92E2-82D6BF339393}" type="slidenum">
              <a:rPr lang="zh-TW" altLang="en-US" smtClean="0"/>
              <a:pPr>
                <a:defRPr/>
              </a:pPr>
              <a:t>17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D144D2-E91B-4D25-92E2-82D6BF339393}" type="slidenum">
              <a:rPr lang="zh-TW" altLang="en-US" smtClean="0"/>
              <a:pPr>
                <a:defRPr/>
              </a:pPr>
              <a:t>18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D144D2-E91B-4D25-92E2-82D6BF339393}" type="slidenum">
              <a:rPr lang="zh-TW" altLang="en-US" smtClean="0"/>
              <a:pPr>
                <a:defRPr/>
              </a:pPr>
              <a:t>19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D144D2-E91B-4D25-92E2-82D6BF339393}" type="slidenum">
              <a:rPr lang="zh-TW" altLang="en-US" smtClean="0"/>
              <a:pPr>
                <a:defRPr/>
              </a:pPr>
              <a:t>20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D144D2-E91B-4D25-92E2-82D6BF339393}" type="slidenum">
              <a:rPr lang="zh-TW" altLang="en-US" smtClean="0"/>
              <a:pPr>
                <a:defRPr/>
              </a:pPr>
              <a:t>21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D144D2-E91B-4D25-92E2-82D6BF339393}" type="slidenum">
              <a:rPr lang="zh-TW" altLang="en-US" smtClean="0"/>
              <a:pPr>
                <a:defRPr/>
              </a:pPr>
              <a:t>22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D144D2-E91B-4D25-92E2-82D6BF339393}" type="slidenum">
              <a:rPr lang="zh-TW" altLang="en-US" smtClean="0"/>
              <a:pPr>
                <a:defRPr/>
              </a:pPr>
              <a:t>23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D144D2-E91B-4D25-92E2-82D6BF339393}" type="slidenum">
              <a:rPr lang="zh-TW" altLang="en-US" smtClean="0"/>
              <a:pPr>
                <a:defRPr/>
              </a:pPr>
              <a:t>24</a:t>
            </a:fld>
            <a:endParaRPr lang="en-US" altLang="zh-TW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0930B-FE07-47D4-82B0-09470F5AF889}" type="datetimeFigureOut">
              <a:rPr lang="zh-TW" altLang="en-US" smtClean="0"/>
              <a:pPr/>
              <a:t>2026/10/20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242F-716E-4D34-A044-7AC793A06DC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0930B-FE07-47D4-82B0-09470F5AF889}" type="datetimeFigureOut">
              <a:rPr lang="zh-TW" altLang="en-US" smtClean="0"/>
              <a:pPr/>
              <a:t>2026/10/20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242F-716E-4D34-A044-7AC793A06DC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0930B-FE07-47D4-82B0-09470F5AF889}" type="datetimeFigureOut">
              <a:rPr lang="zh-TW" altLang="en-US" smtClean="0"/>
              <a:pPr/>
              <a:t>2026/10/20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242F-716E-4D34-A044-7AC793A06DC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0930B-FE07-47D4-82B0-09470F5AF889}" type="datetimeFigureOut">
              <a:rPr lang="zh-TW" altLang="en-US" smtClean="0"/>
              <a:pPr/>
              <a:t>2026/10/20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242F-716E-4D34-A044-7AC793A06DC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0930B-FE07-47D4-82B0-09470F5AF889}" type="datetimeFigureOut">
              <a:rPr lang="zh-TW" altLang="en-US" smtClean="0"/>
              <a:pPr/>
              <a:t>2026/10/20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242F-716E-4D34-A044-7AC793A06DC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0930B-FE07-47D4-82B0-09470F5AF889}" type="datetimeFigureOut">
              <a:rPr lang="zh-TW" altLang="en-US" smtClean="0"/>
              <a:pPr/>
              <a:t>2026/10/20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242F-716E-4D34-A044-7AC793A06DC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0930B-FE07-47D4-82B0-09470F5AF889}" type="datetimeFigureOut">
              <a:rPr lang="zh-TW" altLang="en-US" smtClean="0"/>
              <a:pPr/>
              <a:t>2026/10/20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242F-716E-4D34-A044-7AC793A06DC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0930B-FE07-47D4-82B0-09470F5AF889}" type="datetimeFigureOut">
              <a:rPr lang="zh-TW" altLang="en-US" smtClean="0"/>
              <a:pPr/>
              <a:t>2026/10/20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242F-716E-4D34-A044-7AC793A06DC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0930B-FE07-47D4-82B0-09470F5AF889}" type="datetimeFigureOut">
              <a:rPr lang="zh-TW" altLang="en-US" smtClean="0"/>
              <a:pPr/>
              <a:t>2026/10/20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242F-716E-4D34-A044-7AC793A06DC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0930B-FE07-47D4-82B0-09470F5AF889}" type="datetimeFigureOut">
              <a:rPr lang="zh-TW" altLang="en-US" smtClean="0"/>
              <a:pPr/>
              <a:t>2026/10/20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242F-716E-4D34-A044-7AC793A06DC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0930B-FE07-47D4-82B0-09470F5AF889}" type="datetimeFigureOut">
              <a:rPr lang="zh-TW" altLang="en-US" smtClean="0"/>
              <a:pPr/>
              <a:t>2026/10/20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242F-716E-4D34-A044-7AC793A06DC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E0930B-FE07-47D4-82B0-09470F5AF889}" type="datetimeFigureOut">
              <a:rPr lang="zh-TW" altLang="en-US" smtClean="0"/>
              <a:pPr/>
              <a:t>2026/10/20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63242F-716E-4D34-A044-7AC793A06DC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899592" y="2492896"/>
            <a:ext cx="6858000" cy="1613198"/>
          </a:xfrm>
        </p:spPr>
        <p:txBody>
          <a:bodyPr>
            <a:normAutofit/>
          </a:bodyPr>
          <a:lstStyle/>
          <a:p>
            <a:r>
              <a:rPr lang="en-US" altLang="zh-TW" sz="3600" dirty="0" smtClean="0">
                <a:latin typeface="標楷體" pitchFamily="65" charset="-120"/>
                <a:ea typeface="標楷體" pitchFamily="65" charset="-120"/>
              </a:rPr>
              <a:t>115</a:t>
            </a:r>
            <a:r>
              <a:rPr lang="zh-TW" altLang="en-US" sz="3600" dirty="0" smtClean="0">
                <a:latin typeface="標楷體" pitchFamily="65" charset="-120"/>
                <a:ea typeface="標楷體" pitchFamily="65" charset="-120"/>
              </a:rPr>
              <a:t>年癌症存活率數據</a:t>
            </a:r>
            <a:endParaRPr lang="zh-TW" altLang="en-US" sz="3600" b="1" dirty="0">
              <a:solidFill>
                <a:srgbClr val="FF0000"/>
              </a:solidFill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621"/>
            <a:ext cx="1522601" cy="71647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/>
        </p:blipFill>
        <p:spPr>
          <a:xfrm>
            <a:off x="5897863" y="4082487"/>
            <a:ext cx="3063461" cy="2382763"/>
          </a:xfrm>
          <a:prstGeom prst="rect">
            <a:avLst/>
          </a:prstGeom>
        </p:spPr>
      </p:pic>
      <p:pic>
        <p:nvPicPr>
          <p:cNvPr id="14" name="圖片 1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621160" y="821688"/>
            <a:ext cx="2261648" cy="2811208"/>
          </a:xfrm>
          <a:prstGeom prst="rect">
            <a:avLst/>
          </a:prstGeom>
        </p:spPr>
      </p:pic>
      <p:sp>
        <p:nvSpPr>
          <p:cNvPr id="15" name="AutoShape 5"/>
          <p:cNvSpPr/>
          <p:nvPr/>
        </p:nvSpPr>
        <p:spPr>
          <a:xfrm>
            <a:off x="-1" y="6444748"/>
            <a:ext cx="9153883" cy="41325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38100" cap="flat">
            <a:noFill/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683568" y="6525344"/>
            <a:ext cx="8200930" cy="292388"/>
          </a:xfrm>
          <a:prstGeom prst="rect">
            <a:avLst/>
          </a:prstGeom>
        </p:spPr>
        <p:txBody>
          <a:bodyPr wrap="square" lIns="45720" tIns="22860" rIns="45720" bIns="22860">
            <a:spAutoFit/>
          </a:bodyPr>
          <a:lstStyle/>
          <a:p>
            <a:r>
              <a:rPr lang="zh-TW" altLang="en-US" sz="16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◇ 正 直 誠 信 ◇ 創 新 卓 越 ◇ 團 隊 合 作 ◇ 健 康 尊 嚴 ◇ 尊 重 關 懷 ◇</a:t>
            </a:r>
          </a:p>
        </p:txBody>
      </p:sp>
    </p:spTree>
    <p:extLst>
      <p:ext uri="{BB962C8B-B14F-4D97-AF65-F5344CB8AC3E}">
        <p14:creationId xmlns:p14="http://schemas.microsoft.com/office/powerpoint/2010/main" xmlns="" val="3374856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>
          <a:xfrm>
            <a:off x="0" y="332656"/>
            <a:ext cx="9144000" cy="1143000"/>
          </a:xfrm>
        </p:spPr>
        <p:txBody>
          <a:bodyPr/>
          <a:lstStyle/>
          <a:p>
            <a:r>
              <a:rPr lang="en-US" altLang="zh-TW" sz="4000" dirty="0" smtClean="0"/>
              <a:t>115</a:t>
            </a:r>
            <a:r>
              <a:rPr lang="zh-TW" altLang="en-US" sz="4000" dirty="0" smtClean="0"/>
              <a:t>年國</a:t>
            </a:r>
            <a:r>
              <a:rPr lang="zh-TW" altLang="en-US" sz="4000" dirty="0"/>
              <a:t>健署回饋本院各癌別存活率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457200" y="5877272"/>
            <a:ext cx="8229600" cy="792088"/>
          </a:xfrm>
        </p:spPr>
        <p:txBody>
          <a:bodyPr/>
          <a:lstStyle/>
          <a:p>
            <a:r>
              <a:rPr lang="zh-TW" altLang="en-US" sz="2000" dirty="0" smtClean="0"/>
              <a:t>死亡</a:t>
            </a:r>
            <a:r>
              <a:rPr lang="zh-TW" altLang="en-US" sz="2000" dirty="0"/>
              <a:t>檔最後追蹤日期皆為</a:t>
            </a:r>
            <a:r>
              <a:rPr lang="en-US" altLang="zh-TW" sz="2000" b="1" dirty="0" smtClean="0">
                <a:solidFill>
                  <a:srgbClr val="FF0000"/>
                </a:solidFill>
              </a:rPr>
              <a:t>2025/12/31</a:t>
            </a:r>
            <a:endParaRPr lang="en-US" altLang="zh-TW" sz="2000" b="1" dirty="0">
              <a:solidFill>
                <a:srgbClr val="FF0000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CB6A63-761C-4611-9142-09D2D3075EF7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415909145"/>
              </p:ext>
            </p:extLst>
          </p:nvPr>
        </p:nvGraphicFramePr>
        <p:xfrm>
          <a:off x="251520" y="1772816"/>
          <a:ext cx="8496944" cy="3574124"/>
        </p:xfrm>
        <a:graphic>
          <a:graphicData uri="http://schemas.openxmlformats.org/drawingml/2006/table">
            <a:tbl>
              <a:tblPr/>
              <a:tblGrid>
                <a:gridCol w="2088231"/>
                <a:gridCol w="1872208"/>
                <a:gridCol w="4536505"/>
              </a:tblGrid>
              <a:tr h="76847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TW" altLang="zh-TW" sz="2400" b="1" dirty="0" smtClean="0">
                          <a:latin typeface="微軟正黑體" pitchFamily="34" charset="-120"/>
                          <a:ea typeface="微軟正黑體" pitchFamily="34" charset="-120"/>
                        </a:rPr>
                        <a:t>診斷年</a:t>
                      </a:r>
                      <a:endParaRPr kumimoji="0" lang="zh-TW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存活率</a:t>
                      </a:r>
                      <a:endParaRPr kumimoji="0" lang="en-US" altLang="zh-TW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期間</a:t>
                      </a:r>
                      <a:endParaRPr kumimoji="0" lang="zh-TW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癌別</a:t>
                      </a:r>
                      <a:endParaRPr kumimoji="0" lang="zh-TW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</a:tr>
              <a:tr h="14091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2000" b="0" dirty="0" smtClean="0">
                          <a:solidFill>
                            <a:srgbClr val="0000FF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2019</a:t>
                      </a:r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-2023</a:t>
                      </a:r>
                      <a:endParaRPr lang="en-US" altLang="zh-TW" sz="20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4456" marR="4456" marT="4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2000" b="0" smtClean="0">
                          <a:solidFill>
                            <a:srgbClr val="FF0000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五年</a:t>
                      </a:r>
                      <a:endParaRPr lang="zh-TW" altLang="en-US" sz="2000" b="0" i="0" u="none" strike="noStrike" dirty="0">
                        <a:solidFill>
                          <a:srgbClr val="FF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4456" marR="4456" marT="4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indent="-342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zh-TW" altLang="en-US" sz="2000" b="0" i="0" u="none" strike="noStrike" kern="1200" baseline="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大腸癌、乳癌、胃癌、口腔癌、口咽癌、下咽癌、鼻咽癌、喉癌、膀胱癌、攝護腺癌、肺癌、食道癌、子宮頸癌</a:t>
                      </a:r>
                      <a:r>
                        <a:rPr lang="en-US" altLang="zh-TW" sz="2000" b="0" i="0" u="none" strike="noStrike" kern="1200" baseline="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FIGO</a:t>
                      </a:r>
                      <a:r>
                        <a:rPr lang="zh-TW" altLang="en-US" sz="2000" b="0" i="0" u="none" strike="noStrike" kern="1200" baseline="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、子宮體癌</a:t>
                      </a:r>
                      <a:r>
                        <a:rPr lang="en-US" altLang="zh-TW" sz="2000" b="0" i="0" u="none" strike="noStrike" kern="1200" baseline="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FIGO</a:t>
                      </a:r>
                      <a:r>
                        <a:rPr lang="zh-TW" altLang="en-US" sz="2000" b="0" i="0" u="none" strike="noStrike" kern="1200" baseline="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、卵巢癌</a:t>
                      </a:r>
                      <a:r>
                        <a:rPr lang="en-US" altLang="zh-TW" sz="2000" b="0" i="0" u="none" strike="noStrike" kern="1200" baseline="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FIGO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4456" marR="4456" marT="4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3420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dirty="0" smtClean="0">
                          <a:solidFill>
                            <a:srgbClr val="0000FF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2022</a:t>
                      </a:r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-2023</a:t>
                      </a:r>
                      <a:endParaRPr lang="en-US" altLang="zh-TW" sz="2000" b="0" i="0" u="none" strike="noStrike" dirty="0" smtClean="0"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4456" marR="4456" marT="4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二年</a:t>
                      </a:r>
                    </a:p>
                  </a:txBody>
                  <a:tcPr marL="4456" marR="4456" marT="4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zh-TW" altLang="en-US" sz="2000" b="0" i="0" u="none" strike="noStrike" kern="1200" baseline="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胰臟癌</a:t>
                      </a:r>
                      <a:r>
                        <a:rPr lang="en-US" altLang="zh-TW" sz="2000" b="0" i="0" u="none" strike="noStrike" kern="1200" baseline="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(</a:t>
                      </a:r>
                      <a:r>
                        <a:rPr lang="zh-TW" altLang="en-US" sz="2000" b="0" i="0" u="none" strike="noStrike" kern="1200" baseline="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個案數太少，無可採用數據</a:t>
                      </a:r>
                      <a:r>
                        <a:rPr lang="en-US" altLang="zh-TW" sz="2000" b="0" i="0" u="none" strike="noStrike" kern="1200" baseline="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)</a:t>
                      </a:r>
                      <a:endParaRPr lang="zh-TW" altLang="en-US" sz="2000" b="0" i="0" u="none" strike="noStrike" kern="1200" baseline="0" dirty="0" smtClean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L="4456" marR="4456" marT="4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252658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6" y="-171400"/>
            <a:ext cx="8229600" cy="1143000"/>
          </a:xfrm>
        </p:spPr>
        <p:txBody>
          <a:bodyPr/>
          <a:lstStyle/>
          <a:p>
            <a:r>
              <a:rPr lang="zh-TW" altLang="en-US" sz="3200" smtClean="0"/>
              <a:t>結腸直腸癌</a:t>
            </a:r>
            <a:r>
              <a:rPr lang="en-US" altLang="zh-TW" sz="3200"/>
              <a:t>-</a:t>
            </a:r>
            <a:r>
              <a:rPr lang="en-US" altLang="zh-TW" sz="3200" smtClean="0"/>
              <a:t>ALL</a:t>
            </a:r>
            <a:r>
              <a:rPr lang="zh-TW" altLang="en-US" sz="3200" smtClean="0"/>
              <a:t>存活率</a:t>
            </a:r>
            <a:endParaRPr lang="zh-TW" altLang="en-US" sz="32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CE20B-11F2-46A7-BE20-93932E3F43B4}" type="slidenum">
              <a:rPr lang="zh-TW" altLang="en-US" smtClean="0"/>
              <a:pPr>
                <a:defRPr/>
              </a:pPr>
              <a:t>3</a:t>
            </a:fld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833107670"/>
              </p:ext>
            </p:extLst>
          </p:nvPr>
        </p:nvGraphicFramePr>
        <p:xfrm>
          <a:off x="35496" y="767436"/>
          <a:ext cx="8712969" cy="5253849"/>
        </p:xfrm>
        <a:graphic>
          <a:graphicData uri="http://schemas.openxmlformats.org/drawingml/2006/table">
            <a:tbl>
              <a:tblPr/>
              <a:tblGrid>
                <a:gridCol w="556551"/>
                <a:gridCol w="608351"/>
                <a:gridCol w="608351"/>
                <a:gridCol w="1734929"/>
                <a:gridCol w="1734929"/>
                <a:gridCol w="1734929"/>
                <a:gridCol w="1734929"/>
              </a:tblGrid>
              <a:tr h="397813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期別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0" dirty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2019-2023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存活率：</a:t>
                      </a:r>
                      <a:r>
                        <a:rPr lang="zh-TW" altLang="en-US" sz="1200" b="1" kern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台大雲林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與全國</a:t>
                      </a:r>
                      <a:r>
                        <a:rPr lang="zh-TW" altLang="en-US" sz="1200" b="1" kern="0" dirty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五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年存活率比較</a:t>
                      </a:r>
                      <a:r>
                        <a:rPr lang="en-US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</a:rPr>
                        <a:t>(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百分比</a:t>
                      </a:r>
                      <a:r>
                        <a:rPr lang="en-US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</a:rPr>
                        <a:t>)</a:t>
                      </a:r>
                      <a:endParaRPr lang="zh-TW" altLang="zh-TW" sz="1200" b="1" kern="100" dirty="0" smtClea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200" b="1" kern="100" dirty="0" smtClea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1140666"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期別人數</a:t>
                      </a:r>
                      <a:endParaRPr lang="en-US" alt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死亡個數</a:t>
                      </a:r>
                      <a:endParaRPr lang="en-US" alt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本院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</a:t>
                      </a:r>
                      <a:r>
                        <a:rPr lang="en-US" altLang="zh-TW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(</a:t>
                      </a:r>
                      <a:r>
                        <a:rPr lang="zh-TW" altLang="en-US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觀察</a:t>
                      </a:r>
                      <a:r>
                        <a:rPr lang="en-US" altLang="zh-TW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)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存活率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%95 % CI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全國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%</a:t>
                      </a:r>
                      <a:b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</a:b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95 % CI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醫學中心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%</a:t>
                      </a:r>
                      <a:b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</a:b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95 % CI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itchFamily="34" charset="-120"/>
                          <a:cs typeface="Times New Roman"/>
                        </a:rPr>
                        <a:t>非醫學中心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itchFamily="34" charset="-120"/>
                          <a:cs typeface="Times New Roman"/>
                        </a:rPr>
                        <a:t>%</a:t>
                      </a:r>
                      <a:b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itchFamily="34" charset="-120"/>
                          <a:cs typeface="Times New Roman"/>
                        </a:rPr>
                      </a:b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itchFamily="34" charset="-120"/>
                          <a:cs typeface="Times New Roman"/>
                        </a:rPr>
                        <a:t>95 % CI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9512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第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1</a:t>
                      </a:r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104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20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80.16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80.03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80.91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79.00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( 68.49 , 91.84 )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( 78.50 , 81.55 )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( 78.88 , 82.94 )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( 76.73 , 81.26 )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43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第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2</a:t>
                      </a:r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172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58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61.09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73.89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75.57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71.78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( 43.47 , 78.72 )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( 72.31 , 75.47 )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( 73.55 , 77.58 )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( 69.28 , 74.28 )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321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en-US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第</a:t>
                      </a:r>
                      <a:r>
                        <a:rPr lang="en-US" altLang="zh-TW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3</a:t>
                      </a:r>
                      <a:r>
                        <a:rPr lang="zh-TW" altLang="en-US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期</a:t>
                      </a:r>
                      <a:endParaRPr lang="zh-TW" altLang="zh-TW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215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92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53.49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63.00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65.32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60.31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( 38.97 , 68.01 )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( 61.49 , 64.50 )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( 63.35 , 67.29 )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( 58.07 , 62.56 )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321">
                <a:tc rowSpan="2"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第</a:t>
                      </a: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4</a:t>
                      </a: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</a:t>
                      </a:r>
                      <a:endParaRPr lang="en-US" altLang="zh-TW" sz="1200" b="1" kern="1200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181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142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19.18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15.43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16.42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14.24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( 7.41 , 30.94 )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( 14.03 , 16.83 )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( 14.54 , 18.30 )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( 12.19 , 16.28 )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179512" y="6165304"/>
            <a:ext cx="78488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</a:rPr>
              <a:t>(1)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藍字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</a:rPr>
              <a:t>: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代表某</a:t>
            </a:r>
            <a:r>
              <a:rPr lang="zh-TW" altLang="en-US" sz="1100" dirty="0" smtClean="0"/>
              <a:t>年齡層未滿</a:t>
            </a:r>
            <a:r>
              <a:rPr lang="en-US" altLang="zh-TW" sz="1100" dirty="0" smtClean="0"/>
              <a:t>10</a:t>
            </a:r>
            <a:r>
              <a:rPr lang="zh-TW" altLang="en-US" sz="1100" dirty="0" smtClean="0"/>
              <a:t>人，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無法進行年齡標準化調整，故改呈現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觀察存活率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及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95 </a:t>
            </a:r>
            <a:r>
              <a:rPr lang="en-US" altLang="zh-TW" sz="1100" dirty="0">
                <a:latin typeface="微軟正黑體" pitchFamily="34" charset="-120"/>
                <a:ea typeface="微軟正黑體" pitchFamily="34" charset="-120"/>
                <a:cs typeface="Helvetica"/>
              </a:rPr>
              <a:t>% 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CI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。</a:t>
            </a:r>
            <a:endParaRPr lang="en-US" altLang="zh-TW" sz="1100" dirty="0" smtClean="0">
              <a:latin typeface="微軟正黑體" pitchFamily="34" charset="-120"/>
              <a:ea typeface="微軟正黑體" pitchFamily="34" charset="-120"/>
              <a:cs typeface="Helvetica"/>
            </a:endParaRPr>
          </a:p>
          <a:p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(2) 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存活率為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”-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  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”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，代表</a:t>
            </a:r>
            <a:r>
              <a:rPr lang="zh-TW" altLang="zh-TW" sz="1100" dirty="0" smtClean="0"/>
              <a:t>無個案數可追蹤至第</a:t>
            </a:r>
            <a:r>
              <a:rPr lang="en-US" altLang="zh-TW" sz="1100" dirty="0" smtClean="0"/>
              <a:t>5</a:t>
            </a:r>
            <a:r>
              <a:rPr lang="zh-TW" altLang="zh-TW" sz="1100" dirty="0" smtClean="0"/>
              <a:t>年以求得存活率</a:t>
            </a:r>
            <a:r>
              <a:rPr lang="en-US" altLang="zh-TW" sz="1100" dirty="0" smtClean="0"/>
              <a:t>,</a:t>
            </a:r>
            <a:r>
              <a:rPr lang="zh-TW" altLang="en-US" sz="1100" dirty="0" smtClean="0"/>
              <a:t>或是</a:t>
            </a:r>
            <a:r>
              <a:rPr lang="zh-TW" altLang="zh-TW" sz="1100" dirty="0" smtClean="0"/>
              <a:t>所有個案於第</a:t>
            </a:r>
            <a:r>
              <a:rPr lang="en-US" altLang="zh-TW" sz="1100" dirty="0" smtClean="0"/>
              <a:t>5</a:t>
            </a:r>
            <a:r>
              <a:rPr lang="zh-TW" altLang="zh-TW" sz="1100" dirty="0" smtClean="0"/>
              <a:t>年以前已全部死亡</a:t>
            </a:r>
            <a:r>
              <a:rPr lang="zh-TW" altLang="en-US" sz="1100" dirty="0" smtClean="0"/>
              <a:t>。</a:t>
            </a:r>
            <a:endParaRPr lang="zh-TW" altLang="zh-TW" sz="1100" dirty="0">
              <a:latin typeface="微軟正黑體" pitchFamily="34" charset="-120"/>
              <a:ea typeface="微軟正黑體" pitchFamily="34" charset="-120"/>
              <a:cs typeface="Helvetica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621"/>
            <a:ext cx="1522601" cy="71647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968569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6" y="-171400"/>
            <a:ext cx="8229600" cy="1143000"/>
          </a:xfrm>
        </p:spPr>
        <p:txBody>
          <a:bodyPr/>
          <a:lstStyle/>
          <a:p>
            <a:r>
              <a:rPr lang="zh-TW" altLang="en-US" sz="3200" smtClean="0"/>
              <a:t>結腸癌存活率</a:t>
            </a:r>
            <a:endParaRPr lang="zh-TW" altLang="en-US" sz="32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CE20B-11F2-46A7-BE20-93932E3F43B4}" type="slidenum">
              <a:rPr lang="zh-TW" altLang="en-US" smtClean="0"/>
              <a:pPr>
                <a:defRPr/>
              </a:pPr>
              <a:t>4</a:t>
            </a:fld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93712848"/>
              </p:ext>
            </p:extLst>
          </p:nvPr>
        </p:nvGraphicFramePr>
        <p:xfrm>
          <a:off x="35496" y="767436"/>
          <a:ext cx="8928994" cy="5253849"/>
        </p:xfrm>
        <a:graphic>
          <a:graphicData uri="http://schemas.openxmlformats.org/drawingml/2006/table">
            <a:tbl>
              <a:tblPr/>
              <a:tblGrid>
                <a:gridCol w="570350"/>
                <a:gridCol w="623434"/>
                <a:gridCol w="623434"/>
                <a:gridCol w="1777944"/>
                <a:gridCol w="1777944"/>
                <a:gridCol w="1777944"/>
                <a:gridCol w="1777944"/>
              </a:tblGrid>
              <a:tr h="397813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期別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0" dirty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2019-2023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存活率：</a:t>
                      </a:r>
                      <a:r>
                        <a:rPr lang="zh-TW" altLang="en-US" sz="1200" b="1" kern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台大雲林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與全國</a:t>
                      </a:r>
                      <a:r>
                        <a:rPr lang="zh-TW" altLang="en-US" sz="1200" b="1" kern="0" dirty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五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年存活率比較</a:t>
                      </a:r>
                      <a:r>
                        <a:rPr lang="en-US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</a:rPr>
                        <a:t>(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百分比</a:t>
                      </a:r>
                      <a:r>
                        <a:rPr lang="en-US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</a:rPr>
                        <a:t>)</a:t>
                      </a:r>
                      <a:endParaRPr lang="zh-TW" altLang="zh-TW" sz="1200" b="1" kern="100" dirty="0" smtClea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200" b="1" kern="100" dirty="0" smtClea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1140666"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期別人數</a:t>
                      </a:r>
                      <a:endParaRPr lang="en-US" alt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死亡個數</a:t>
                      </a:r>
                      <a:endParaRPr lang="en-US" alt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本院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</a:t>
                      </a:r>
                      <a:r>
                        <a:rPr lang="en-US" altLang="zh-TW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(</a:t>
                      </a:r>
                      <a:r>
                        <a:rPr lang="zh-TW" altLang="en-US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觀察</a:t>
                      </a:r>
                      <a:r>
                        <a:rPr lang="en-US" altLang="zh-TW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)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存活率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%95 % CI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全國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%</a:t>
                      </a:r>
                      <a:b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</a:b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95 % CI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醫學中心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%</a:t>
                      </a:r>
                      <a:b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</a:b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95 % CI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itchFamily="34" charset="-120"/>
                          <a:cs typeface="Times New Roman"/>
                        </a:rPr>
                        <a:t>非醫學中心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itchFamily="34" charset="-120"/>
                          <a:cs typeface="Times New Roman"/>
                        </a:rPr>
                        <a:t>%</a:t>
                      </a:r>
                      <a:b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itchFamily="34" charset="-120"/>
                          <a:cs typeface="Times New Roman"/>
                        </a:rPr>
                      </a:b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itchFamily="34" charset="-120"/>
                          <a:cs typeface="Times New Roman"/>
                        </a:rPr>
                        <a:t>95 % CI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endParaRPr lang="en-US" altLang="zh-TW" sz="1200" b="1" kern="1200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9512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第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1</a:t>
                      </a:r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67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10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85.24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80.35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81.11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79.43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( 77.35 , 93.12 )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( 78.47 , 82.23 )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( 78.59 , 83.62 )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( 76.70 , 82.16 )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43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第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2</a:t>
                      </a:r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118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39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61.15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75.54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77.04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73.79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( 45.37 , 76.93 )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( 73.73 , 77.36 )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( 74.74 , 79.35 )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( 70.91 , 76.67 )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321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en-US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第</a:t>
                      </a:r>
                      <a:r>
                        <a:rPr lang="en-US" altLang="zh-TW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3</a:t>
                      </a:r>
                      <a:r>
                        <a:rPr lang="zh-TW" altLang="en-US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期</a:t>
                      </a:r>
                      <a:endParaRPr lang="zh-TW" altLang="zh-TW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139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64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52.34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63.55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66.05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60.82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( 37.66 , 67.02 )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( 61.60 , 65.49 )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( 63.50 , 68.61 )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( 57.92 , 63.71 )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321">
                <a:tc rowSpan="2"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第</a:t>
                      </a: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4</a:t>
                      </a: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</a:t>
                      </a:r>
                      <a:endParaRPr lang="en-US" altLang="zh-TW" sz="1200" b="1" kern="1200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120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96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18.30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15.10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15.88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14.09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( 8.66 , 27.94 )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( 13.40 , 16.79 )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( 13.63 , 18.12 )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( 11.59 , 16.60 )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179512" y="6165304"/>
            <a:ext cx="78488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</a:rPr>
              <a:t>(1)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藍字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</a:rPr>
              <a:t>: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代表某</a:t>
            </a:r>
            <a:r>
              <a:rPr lang="zh-TW" altLang="en-US" sz="1100" dirty="0" smtClean="0"/>
              <a:t>年齡層未滿</a:t>
            </a:r>
            <a:r>
              <a:rPr lang="en-US" altLang="zh-TW" sz="1100" dirty="0" smtClean="0"/>
              <a:t>10</a:t>
            </a:r>
            <a:r>
              <a:rPr lang="zh-TW" altLang="en-US" sz="1100" dirty="0" smtClean="0"/>
              <a:t>人，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無法進行年齡標準化調整，故改呈現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觀察存活率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及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95 </a:t>
            </a:r>
            <a:r>
              <a:rPr lang="en-US" altLang="zh-TW" sz="1100" dirty="0">
                <a:latin typeface="微軟正黑體" pitchFamily="34" charset="-120"/>
                <a:ea typeface="微軟正黑體" pitchFamily="34" charset="-120"/>
                <a:cs typeface="Helvetica"/>
              </a:rPr>
              <a:t>% 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CI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。</a:t>
            </a:r>
            <a:endParaRPr lang="en-US" altLang="zh-TW" sz="1100" dirty="0" smtClean="0">
              <a:latin typeface="微軟正黑體" pitchFamily="34" charset="-120"/>
              <a:ea typeface="微軟正黑體" pitchFamily="34" charset="-120"/>
              <a:cs typeface="Helvetica"/>
            </a:endParaRPr>
          </a:p>
          <a:p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(2) 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存活率為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”-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  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”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，代表</a:t>
            </a:r>
            <a:r>
              <a:rPr lang="zh-TW" altLang="zh-TW" sz="1100" dirty="0" smtClean="0"/>
              <a:t>無個案數可追蹤至第</a:t>
            </a:r>
            <a:r>
              <a:rPr lang="en-US" altLang="zh-TW" sz="1100" dirty="0" smtClean="0"/>
              <a:t>5</a:t>
            </a:r>
            <a:r>
              <a:rPr lang="zh-TW" altLang="zh-TW" sz="1100" dirty="0" smtClean="0"/>
              <a:t>年以求得存活率</a:t>
            </a:r>
            <a:r>
              <a:rPr lang="en-US" altLang="zh-TW" sz="1100" dirty="0" smtClean="0"/>
              <a:t>,</a:t>
            </a:r>
            <a:r>
              <a:rPr lang="zh-TW" altLang="en-US" sz="1100" dirty="0" smtClean="0"/>
              <a:t>或是</a:t>
            </a:r>
            <a:r>
              <a:rPr lang="zh-TW" altLang="zh-TW" sz="1100" dirty="0" smtClean="0"/>
              <a:t>所有個案於第</a:t>
            </a:r>
            <a:r>
              <a:rPr lang="en-US" altLang="zh-TW" sz="1100" dirty="0" smtClean="0"/>
              <a:t>5</a:t>
            </a:r>
            <a:r>
              <a:rPr lang="zh-TW" altLang="zh-TW" sz="1100" dirty="0" smtClean="0"/>
              <a:t>年以前已全部死亡</a:t>
            </a:r>
            <a:r>
              <a:rPr lang="zh-TW" altLang="en-US" sz="1100" dirty="0" smtClean="0"/>
              <a:t>。</a:t>
            </a:r>
            <a:endParaRPr lang="zh-TW" altLang="zh-TW" sz="1100" dirty="0">
              <a:latin typeface="微軟正黑體" pitchFamily="34" charset="-120"/>
              <a:ea typeface="微軟正黑體" pitchFamily="34" charset="-120"/>
              <a:cs typeface="Helvetica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621"/>
            <a:ext cx="1522601" cy="71647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235883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6" y="-171400"/>
            <a:ext cx="8229600" cy="1143000"/>
          </a:xfrm>
        </p:spPr>
        <p:txBody>
          <a:bodyPr/>
          <a:lstStyle/>
          <a:p>
            <a:r>
              <a:rPr lang="zh-TW" altLang="en-US" sz="3200" smtClean="0"/>
              <a:t>直腸癌存活率</a:t>
            </a:r>
            <a:endParaRPr lang="zh-TW" altLang="en-US" sz="32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CE20B-11F2-46A7-BE20-93932E3F43B4}" type="slidenum">
              <a:rPr lang="zh-TW" altLang="en-US" smtClean="0"/>
              <a:pPr>
                <a:defRPr/>
              </a:pPr>
              <a:t>5</a:t>
            </a:fld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469487984"/>
              </p:ext>
            </p:extLst>
          </p:nvPr>
        </p:nvGraphicFramePr>
        <p:xfrm>
          <a:off x="35496" y="767436"/>
          <a:ext cx="8856985" cy="5253849"/>
        </p:xfrm>
        <a:graphic>
          <a:graphicData uri="http://schemas.openxmlformats.org/drawingml/2006/table">
            <a:tbl>
              <a:tblPr/>
              <a:tblGrid>
                <a:gridCol w="706411"/>
                <a:gridCol w="772158"/>
                <a:gridCol w="772158"/>
                <a:gridCol w="2202086"/>
                <a:gridCol w="2202086"/>
                <a:gridCol w="2202086"/>
              </a:tblGrid>
              <a:tr h="397813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期別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0" dirty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2019-2023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存活率：</a:t>
                      </a:r>
                      <a:r>
                        <a:rPr lang="zh-TW" altLang="en-US" sz="1200" b="1" kern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台大雲林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與全國</a:t>
                      </a:r>
                      <a:r>
                        <a:rPr lang="zh-TW" altLang="en-US" sz="1200" b="1" kern="0" dirty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五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年存活率比較</a:t>
                      </a:r>
                      <a:r>
                        <a:rPr lang="en-US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</a:rPr>
                        <a:t>(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百分比</a:t>
                      </a:r>
                      <a:r>
                        <a:rPr lang="en-US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</a:rPr>
                        <a:t>)</a:t>
                      </a:r>
                      <a:endParaRPr lang="zh-TW" altLang="zh-TW" sz="1200" b="1" kern="100" dirty="0" smtClea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140666"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期別人數</a:t>
                      </a:r>
                      <a:endParaRPr lang="en-US" alt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死亡個數</a:t>
                      </a:r>
                      <a:endParaRPr lang="en-US" alt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本院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</a:t>
                      </a:r>
                      <a:r>
                        <a:rPr lang="en-US" altLang="zh-TW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(</a:t>
                      </a:r>
                      <a:r>
                        <a:rPr lang="zh-TW" altLang="en-US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觀察</a:t>
                      </a:r>
                      <a:r>
                        <a:rPr lang="en-US" altLang="zh-TW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)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存活率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%95 % CI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全國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%</a:t>
                      </a:r>
                      <a:b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</a:b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95 % CI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醫學中心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%</a:t>
                      </a:r>
                      <a:b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</a:b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95 % CI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9512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第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1</a:t>
                      </a:r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37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11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68.01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79.46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80.52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( 52.01 , 84.02 )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( 76.86 , 82.06 )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( 77.08 , 83.97 )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43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第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2</a:t>
                      </a:r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54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19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59.14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69.35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71.44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( 37.64 , 80.63 )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( 66.23 , 72.47 )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( 67.37 , 75.50 )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4321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en-US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第</a:t>
                      </a:r>
                      <a:r>
                        <a:rPr lang="en-US" altLang="zh-TW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3</a:t>
                      </a:r>
                      <a:r>
                        <a:rPr lang="zh-TW" altLang="en-US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期</a:t>
                      </a:r>
                      <a:endParaRPr lang="zh-TW" altLang="zh-TW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76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28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59.78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62.30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64.38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( 42.52 , 77.03 )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( 59.91 , 64.69 )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( 61.28 , 67.48 )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4321">
                <a:tc rowSpan="2"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第</a:t>
                      </a: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4</a:t>
                      </a: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</a:t>
                      </a:r>
                      <a:endParaRPr lang="en-US" altLang="zh-TW" sz="1200" b="1" kern="1200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61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46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22.42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15.96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17.32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( 11.39 , 33.45 )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( 13.46 , 18.45 )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( 13.90 , 20.75 )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179512" y="6165304"/>
            <a:ext cx="78488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</a:rPr>
              <a:t>(1)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藍字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</a:rPr>
              <a:t>: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代表某</a:t>
            </a:r>
            <a:r>
              <a:rPr lang="zh-TW" altLang="en-US" sz="1100" dirty="0" smtClean="0"/>
              <a:t>年齡層未滿</a:t>
            </a:r>
            <a:r>
              <a:rPr lang="en-US" altLang="zh-TW" sz="1100" dirty="0" smtClean="0"/>
              <a:t>10</a:t>
            </a:r>
            <a:r>
              <a:rPr lang="zh-TW" altLang="en-US" sz="1100" dirty="0" smtClean="0"/>
              <a:t>人，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無法進行年齡標準化調整，故改呈現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觀察存活率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及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95 </a:t>
            </a:r>
            <a:r>
              <a:rPr lang="en-US" altLang="zh-TW" sz="1100" dirty="0">
                <a:latin typeface="微軟正黑體" pitchFamily="34" charset="-120"/>
                <a:ea typeface="微軟正黑體" pitchFamily="34" charset="-120"/>
                <a:cs typeface="Helvetica"/>
              </a:rPr>
              <a:t>% 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CI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。</a:t>
            </a:r>
            <a:endParaRPr lang="en-US" altLang="zh-TW" sz="1100" dirty="0" smtClean="0">
              <a:latin typeface="微軟正黑體" pitchFamily="34" charset="-120"/>
              <a:ea typeface="微軟正黑體" pitchFamily="34" charset="-120"/>
              <a:cs typeface="Helvetica"/>
            </a:endParaRPr>
          </a:p>
          <a:p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(2) 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存活率為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”-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  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”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，代表</a:t>
            </a:r>
            <a:r>
              <a:rPr lang="zh-TW" altLang="zh-TW" sz="1100" dirty="0" smtClean="0"/>
              <a:t>無個案數可追蹤至第</a:t>
            </a:r>
            <a:r>
              <a:rPr lang="en-US" altLang="zh-TW" sz="1100" dirty="0" smtClean="0"/>
              <a:t>5</a:t>
            </a:r>
            <a:r>
              <a:rPr lang="zh-TW" altLang="zh-TW" sz="1100" dirty="0" smtClean="0"/>
              <a:t>年以求得存活率</a:t>
            </a:r>
            <a:r>
              <a:rPr lang="en-US" altLang="zh-TW" sz="1100" dirty="0" smtClean="0"/>
              <a:t>,</a:t>
            </a:r>
            <a:r>
              <a:rPr lang="zh-TW" altLang="en-US" sz="1100" dirty="0" smtClean="0"/>
              <a:t>或是</a:t>
            </a:r>
            <a:r>
              <a:rPr lang="zh-TW" altLang="zh-TW" sz="1100" dirty="0" smtClean="0"/>
              <a:t>所有個案於第</a:t>
            </a:r>
            <a:r>
              <a:rPr lang="en-US" altLang="zh-TW" sz="1100" dirty="0" smtClean="0"/>
              <a:t>5</a:t>
            </a:r>
            <a:r>
              <a:rPr lang="zh-TW" altLang="zh-TW" sz="1100" dirty="0" smtClean="0"/>
              <a:t>年以前已全部死亡</a:t>
            </a:r>
            <a:r>
              <a:rPr lang="zh-TW" altLang="en-US" sz="1100" dirty="0" smtClean="0"/>
              <a:t>。</a:t>
            </a:r>
            <a:endParaRPr lang="zh-TW" altLang="zh-TW" sz="1100" dirty="0">
              <a:latin typeface="微軟正黑體" pitchFamily="34" charset="-120"/>
              <a:ea typeface="微軟正黑體" pitchFamily="34" charset="-120"/>
              <a:cs typeface="Helvetica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621"/>
            <a:ext cx="1522601" cy="71647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235883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6" y="-171400"/>
            <a:ext cx="8229600" cy="864096"/>
          </a:xfrm>
        </p:spPr>
        <p:txBody>
          <a:bodyPr/>
          <a:lstStyle/>
          <a:p>
            <a:r>
              <a:rPr lang="zh-TW" altLang="en-US" sz="3200" dirty="0"/>
              <a:t>子宮頸癌</a:t>
            </a:r>
            <a:r>
              <a:rPr lang="en-US" altLang="zh-TW" sz="3200" dirty="0"/>
              <a:t>FIGO</a:t>
            </a:r>
            <a:r>
              <a:rPr lang="zh-TW" altLang="en-US" sz="3200" dirty="0" smtClean="0"/>
              <a:t>分期存活率</a:t>
            </a:r>
            <a:endParaRPr lang="zh-TW" altLang="en-US" sz="32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CE20B-11F2-46A7-BE20-93932E3F43B4}" type="slidenum">
              <a:rPr lang="zh-TW" altLang="en-US" smtClean="0"/>
              <a:pPr>
                <a:defRPr/>
              </a:pPr>
              <a:t>6</a:t>
            </a:fld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650172363"/>
              </p:ext>
            </p:extLst>
          </p:nvPr>
        </p:nvGraphicFramePr>
        <p:xfrm>
          <a:off x="179513" y="620688"/>
          <a:ext cx="8712968" cy="5829913"/>
        </p:xfrm>
        <a:graphic>
          <a:graphicData uri="http://schemas.openxmlformats.org/drawingml/2006/table">
            <a:tbl>
              <a:tblPr/>
              <a:tblGrid>
                <a:gridCol w="694925"/>
                <a:gridCol w="759603"/>
                <a:gridCol w="759603"/>
                <a:gridCol w="2166279"/>
                <a:gridCol w="2166279"/>
                <a:gridCol w="2166279"/>
              </a:tblGrid>
              <a:tr h="324314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期別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0" dirty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2019-2023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存活率：</a:t>
                      </a:r>
                      <a:r>
                        <a:rPr lang="zh-TW" altLang="en-US" sz="1200" b="1" kern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台大雲林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與全國</a:t>
                      </a:r>
                      <a:r>
                        <a:rPr lang="zh-TW" altLang="en-US" sz="1200" b="1" kern="0" dirty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五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年存活率比較</a:t>
                      </a:r>
                      <a:r>
                        <a:rPr lang="en-US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</a:rPr>
                        <a:t>(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百分比</a:t>
                      </a:r>
                      <a:r>
                        <a:rPr lang="en-US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</a:rPr>
                        <a:t>)</a:t>
                      </a:r>
                      <a:endParaRPr lang="zh-TW" altLang="zh-TW" sz="1200" b="1" kern="100" dirty="0" smtClea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929921"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期別人數</a:t>
                      </a:r>
                      <a:endParaRPr lang="en-US" alt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死亡個數</a:t>
                      </a:r>
                      <a:endParaRPr lang="en-US" alt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本院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</a:t>
                      </a:r>
                      <a:r>
                        <a:rPr lang="en-US" altLang="zh-TW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(</a:t>
                      </a:r>
                      <a:r>
                        <a:rPr lang="zh-TW" altLang="en-US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觀察</a:t>
                      </a:r>
                      <a:r>
                        <a:rPr lang="en-US" altLang="zh-TW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)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存活率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%95 % CI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全國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%</a:t>
                      </a:r>
                      <a:b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</a:b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95 % CI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醫學中心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%</a:t>
                      </a:r>
                      <a:b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</a:b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95 % CI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21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第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1</a:t>
                      </a:r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17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3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82.35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85.63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87.57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386687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( 64.23 , 100.00 )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( 81.65 , 89.61 )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( 82.76 , 92.38 )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668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第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2</a:t>
                      </a:r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10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3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68.57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71.44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73.59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386687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( 38.88 , 98.26 )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( 64.05 , 78.84 )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( 65.13 , 82.04 )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6687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en-US" sz="1200" b="1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第</a:t>
                      </a:r>
                      <a:r>
                        <a:rPr lang="en-US" altLang="zh-TW" sz="1200" b="1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2A</a:t>
                      </a:r>
                      <a:r>
                        <a:rPr lang="zh-TW" altLang="en-US" sz="1200" b="1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期</a:t>
                      </a:r>
                      <a:endParaRPr lang="zh-TW" altLang="zh-TW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5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75.00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71.08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72.97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386687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( 32.57 , 100.00 )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( 58.77 , 83.38 )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( 59.11 , 86.83 )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6687">
                <a:tc rowSpan="2"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第</a:t>
                      </a: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2B</a:t>
                      </a: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</a:t>
                      </a:r>
                      <a:endParaRPr lang="en-US" altLang="zh-TW" sz="1200" b="1" kern="1200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5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2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60.00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71.39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73.96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386687">
                <a:tc vMerge="1">
                  <a:txBody>
                    <a:bodyPr/>
                    <a:lstStyle/>
                    <a:p>
                      <a:pPr algn="l" fontAlgn="ctr"/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( 17.06 , 100.00 )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( 62.00 , 80.79 )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( 63.26 , 84.66 )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6687"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en-US" sz="1200" b="1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第</a:t>
                      </a:r>
                      <a:r>
                        <a:rPr lang="en-US" altLang="zh-TW" sz="1200" b="1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3</a:t>
                      </a:r>
                      <a:r>
                        <a:rPr lang="zh-TW" altLang="en-US" sz="1200" b="1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期</a:t>
                      </a:r>
                      <a:endParaRPr lang="zh-TW" altLang="zh-TW" sz="1200" b="1" i="0" u="none" strike="noStrike" kern="120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14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6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54.42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60.11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61.89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6687">
                <a:tc vMerge="1"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lang="en-US" altLang="zh-TW" sz="1200" b="1" kern="1200" dirty="0" smtClean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( 26.96 , 81.88 )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( 54.76 , 65.46 )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( 55.62 , 68.17 )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6687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en-US" sz="1200" b="1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第</a:t>
                      </a:r>
                      <a:r>
                        <a:rPr lang="en-US" altLang="zh-TW" sz="1200" b="1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4</a:t>
                      </a:r>
                      <a:r>
                        <a:rPr lang="zh-TW" altLang="en-US" sz="1200" b="1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期</a:t>
                      </a:r>
                      <a:endParaRPr lang="zh-TW" altLang="zh-TW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16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11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23.81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21.54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22.48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6687">
                <a:tc vMerge="1"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lang="en-US" altLang="zh-TW" sz="1200" b="1" kern="1200" dirty="0" smtClean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( 0.00 , 48.78 )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( 14.95 , 28.12 )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( 14.39 , 30.57 )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179512" y="6427113"/>
            <a:ext cx="78488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</a:rPr>
              <a:t>(1)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藍字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</a:rPr>
              <a:t>: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代表某</a:t>
            </a:r>
            <a:r>
              <a:rPr lang="zh-TW" altLang="en-US" sz="1100" dirty="0" smtClean="0"/>
              <a:t>年齡層未滿</a:t>
            </a:r>
            <a:r>
              <a:rPr lang="en-US" altLang="zh-TW" sz="1100" dirty="0" smtClean="0"/>
              <a:t>10</a:t>
            </a:r>
            <a:r>
              <a:rPr lang="zh-TW" altLang="en-US" sz="1100" dirty="0" smtClean="0"/>
              <a:t>人，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無法進行年齡標準化調整，故改呈現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觀察存活率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及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95 </a:t>
            </a:r>
            <a:r>
              <a:rPr lang="en-US" altLang="zh-TW" sz="1100" dirty="0">
                <a:latin typeface="微軟正黑體" pitchFamily="34" charset="-120"/>
                <a:ea typeface="微軟正黑體" pitchFamily="34" charset="-120"/>
                <a:cs typeface="Helvetica"/>
              </a:rPr>
              <a:t>% 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CI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。</a:t>
            </a:r>
            <a:endParaRPr lang="en-US" altLang="zh-TW" sz="1100" dirty="0" smtClean="0">
              <a:latin typeface="微軟正黑體" pitchFamily="34" charset="-120"/>
              <a:ea typeface="微軟正黑體" pitchFamily="34" charset="-120"/>
              <a:cs typeface="Helvetica"/>
            </a:endParaRPr>
          </a:p>
          <a:p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(2) 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存活率為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”-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  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”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，代表</a:t>
            </a:r>
            <a:r>
              <a:rPr lang="zh-TW" altLang="zh-TW" sz="1100" dirty="0" smtClean="0"/>
              <a:t>無個案數可追蹤至第</a:t>
            </a:r>
            <a:r>
              <a:rPr lang="en-US" altLang="zh-TW" sz="1100" dirty="0" smtClean="0"/>
              <a:t>5</a:t>
            </a:r>
            <a:r>
              <a:rPr lang="zh-TW" altLang="zh-TW" sz="1100" dirty="0" smtClean="0"/>
              <a:t>年以求得存活率</a:t>
            </a:r>
            <a:r>
              <a:rPr lang="en-US" altLang="zh-TW" sz="1100" dirty="0" smtClean="0"/>
              <a:t>,</a:t>
            </a:r>
            <a:r>
              <a:rPr lang="zh-TW" altLang="en-US" sz="1100" dirty="0" smtClean="0"/>
              <a:t>或是</a:t>
            </a:r>
            <a:r>
              <a:rPr lang="zh-TW" altLang="zh-TW" sz="1100" dirty="0" smtClean="0"/>
              <a:t>所有個案於第</a:t>
            </a:r>
            <a:r>
              <a:rPr lang="en-US" altLang="zh-TW" sz="1100" dirty="0" smtClean="0"/>
              <a:t>5</a:t>
            </a:r>
            <a:r>
              <a:rPr lang="zh-TW" altLang="zh-TW" sz="1100" dirty="0" smtClean="0"/>
              <a:t>年以前已全部死亡</a:t>
            </a:r>
            <a:r>
              <a:rPr lang="zh-TW" altLang="en-US" sz="1100" dirty="0" smtClean="0"/>
              <a:t>。</a:t>
            </a:r>
            <a:endParaRPr lang="zh-TW" altLang="zh-TW" sz="1100" dirty="0">
              <a:latin typeface="微軟正黑體" pitchFamily="34" charset="-120"/>
              <a:ea typeface="微軟正黑體" pitchFamily="34" charset="-120"/>
              <a:cs typeface="Helvetica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621"/>
            <a:ext cx="1522601" cy="71647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725869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6" y="-171400"/>
            <a:ext cx="8229600" cy="1143000"/>
          </a:xfrm>
        </p:spPr>
        <p:txBody>
          <a:bodyPr/>
          <a:lstStyle/>
          <a:p>
            <a:r>
              <a:rPr lang="zh-TW" altLang="en-US" sz="3200" dirty="0"/>
              <a:t>子宮體癌</a:t>
            </a:r>
            <a:r>
              <a:rPr lang="en-US" altLang="zh-TW" sz="3200" dirty="0"/>
              <a:t>FIGO</a:t>
            </a:r>
            <a:r>
              <a:rPr lang="zh-TW" altLang="en-US" sz="3200" dirty="0" smtClean="0"/>
              <a:t>分期存活率</a:t>
            </a:r>
            <a:endParaRPr lang="zh-TW" altLang="en-US" sz="32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CE20B-11F2-46A7-BE20-93932E3F43B4}" type="slidenum">
              <a:rPr lang="zh-TW" altLang="en-US" smtClean="0"/>
              <a:pPr>
                <a:defRPr/>
              </a:pPr>
              <a:t>7</a:t>
            </a:fld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294456160"/>
              </p:ext>
            </p:extLst>
          </p:nvPr>
        </p:nvGraphicFramePr>
        <p:xfrm>
          <a:off x="251519" y="767436"/>
          <a:ext cx="8496944" cy="5253849"/>
        </p:xfrm>
        <a:graphic>
          <a:graphicData uri="http://schemas.openxmlformats.org/drawingml/2006/table">
            <a:tbl>
              <a:tblPr/>
              <a:tblGrid>
                <a:gridCol w="677694"/>
                <a:gridCol w="740770"/>
                <a:gridCol w="740770"/>
                <a:gridCol w="2112570"/>
                <a:gridCol w="2112570"/>
                <a:gridCol w="2112570"/>
              </a:tblGrid>
              <a:tr h="397813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期別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0" dirty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2019-2023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存活率：</a:t>
                      </a:r>
                      <a:r>
                        <a:rPr lang="zh-TW" altLang="en-US" sz="1200" b="1" kern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台大雲林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與全國</a:t>
                      </a:r>
                      <a:r>
                        <a:rPr lang="zh-TW" altLang="en-US" sz="1200" b="1" kern="0" dirty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五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年存活率比較</a:t>
                      </a:r>
                      <a:r>
                        <a:rPr lang="en-US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</a:rPr>
                        <a:t>(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百分比</a:t>
                      </a:r>
                      <a:r>
                        <a:rPr lang="en-US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</a:rPr>
                        <a:t>)</a:t>
                      </a:r>
                      <a:endParaRPr lang="zh-TW" altLang="zh-TW" sz="1200" b="1" kern="100" dirty="0" smtClea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140666"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期別人數</a:t>
                      </a:r>
                      <a:endParaRPr lang="en-US" alt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死亡個數</a:t>
                      </a:r>
                      <a:endParaRPr lang="en-US" alt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本院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</a:t>
                      </a:r>
                      <a:r>
                        <a:rPr lang="en-US" altLang="zh-TW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(</a:t>
                      </a:r>
                      <a:r>
                        <a:rPr lang="zh-TW" altLang="en-US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觀察</a:t>
                      </a:r>
                      <a:r>
                        <a:rPr lang="en-US" altLang="zh-TW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)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存活率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%95 % CI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全國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%</a:t>
                      </a:r>
                      <a:b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</a:b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95 % CI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醫學中心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%</a:t>
                      </a:r>
                      <a:b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</a:b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95 % CI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9512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第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1</a:t>
                      </a:r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100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13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82.88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92.04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92.28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( 68.50 , 97.25 )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( 90.62 , 93.45 )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( 90.51 , 94.05 )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43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第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2</a:t>
                      </a:r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2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0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100.00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85.11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83.61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( 100.00 , 100.00 )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( 78.98 , 91.24 )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( 75.52 , 91.69 )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4321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en-US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第</a:t>
                      </a:r>
                      <a:r>
                        <a:rPr lang="en-US" altLang="zh-TW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3</a:t>
                      </a:r>
                      <a:r>
                        <a:rPr lang="zh-TW" altLang="en-US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期</a:t>
                      </a:r>
                      <a:endParaRPr lang="zh-TW" altLang="zh-TW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17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6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61.79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70.70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72.18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( 37.25 , 86.34 )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( 65.41 , 75.98 )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( 65.79 , 78.57 )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4321">
                <a:tc rowSpan="2"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第</a:t>
                      </a: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4</a:t>
                      </a: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</a:t>
                      </a:r>
                      <a:endParaRPr lang="en-US" altLang="zh-TW" sz="1200" b="1" kern="1200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13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12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29.68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27.75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-</a:t>
                      </a:r>
                      <a:r>
                        <a:rPr lang="zh-TW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( 22.49 , 36.87 )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( 19.31 , 36.20 )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179512" y="6165304"/>
            <a:ext cx="78488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</a:rPr>
              <a:t>(1)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藍字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</a:rPr>
              <a:t>: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代表某</a:t>
            </a:r>
            <a:r>
              <a:rPr lang="zh-TW" altLang="en-US" sz="1100" dirty="0" smtClean="0"/>
              <a:t>年齡層未滿</a:t>
            </a:r>
            <a:r>
              <a:rPr lang="en-US" altLang="zh-TW" sz="1100" dirty="0" smtClean="0"/>
              <a:t>10</a:t>
            </a:r>
            <a:r>
              <a:rPr lang="zh-TW" altLang="en-US" sz="1100" dirty="0" smtClean="0"/>
              <a:t>人，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無法進行年齡標準化調整，故改呈現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觀察存活率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及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95 </a:t>
            </a:r>
            <a:r>
              <a:rPr lang="en-US" altLang="zh-TW" sz="1100" dirty="0">
                <a:latin typeface="微軟正黑體" pitchFamily="34" charset="-120"/>
                <a:ea typeface="微軟正黑體" pitchFamily="34" charset="-120"/>
                <a:cs typeface="Helvetica"/>
              </a:rPr>
              <a:t>% 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CI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。</a:t>
            </a:r>
            <a:endParaRPr lang="en-US" altLang="zh-TW" sz="1100" dirty="0" smtClean="0">
              <a:latin typeface="微軟正黑體" pitchFamily="34" charset="-120"/>
              <a:ea typeface="微軟正黑體" pitchFamily="34" charset="-120"/>
              <a:cs typeface="Helvetica"/>
            </a:endParaRPr>
          </a:p>
          <a:p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(2) 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存活率為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”-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  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”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，代表</a:t>
            </a:r>
            <a:r>
              <a:rPr lang="zh-TW" altLang="zh-TW" sz="1100" dirty="0" smtClean="0"/>
              <a:t>無個案數可追蹤至第</a:t>
            </a:r>
            <a:r>
              <a:rPr lang="en-US" altLang="zh-TW" sz="1100" dirty="0" smtClean="0"/>
              <a:t>5</a:t>
            </a:r>
            <a:r>
              <a:rPr lang="zh-TW" altLang="zh-TW" sz="1100" dirty="0" smtClean="0"/>
              <a:t>年以求得存活率</a:t>
            </a:r>
            <a:r>
              <a:rPr lang="en-US" altLang="zh-TW" sz="1100" dirty="0" smtClean="0"/>
              <a:t>,</a:t>
            </a:r>
            <a:r>
              <a:rPr lang="zh-TW" altLang="en-US" sz="1100" dirty="0" smtClean="0"/>
              <a:t>或是</a:t>
            </a:r>
            <a:r>
              <a:rPr lang="zh-TW" altLang="zh-TW" sz="1100" dirty="0" smtClean="0"/>
              <a:t>所有個案於第</a:t>
            </a:r>
            <a:r>
              <a:rPr lang="en-US" altLang="zh-TW" sz="1100" dirty="0" smtClean="0"/>
              <a:t>5</a:t>
            </a:r>
            <a:r>
              <a:rPr lang="zh-TW" altLang="zh-TW" sz="1100" dirty="0" smtClean="0"/>
              <a:t>年以前已全部死亡</a:t>
            </a:r>
            <a:r>
              <a:rPr lang="zh-TW" altLang="en-US" sz="1100" dirty="0" smtClean="0"/>
              <a:t>。</a:t>
            </a:r>
            <a:endParaRPr lang="zh-TW" altLang="zh-TW" sz="1100" dirty="0">
              <a:latin typeface="微軟正黑體" pitchFamily="34" charset="-120"/>
              <a:ea typeface="微軟正黑體" pitchFamily="34" charset="-120"/>
              <a:cs typeface="Helvetica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621"/>
            <a:ext cx="1522601" cy="71647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01719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6" y="-171400"/>
            <a:ext cx="8229600" cy="1143000"/>
          </a:xfrm>
        </p:spPr>
        <p:txBody>
          <a:bodyPr/>
          <a:lstStyle/>
          <a:p>
            <a:r>
              <a:rPr lang="zh-TW" altLang="en-US" sz="3200" smtClean="0"/>
              <a:t>卵巢癌</a:t>
            </a:r>
            <a:r>
              <a:rPr lang="en-US" altLang="zh-TW" sz="3200" smtClean="0"/>
              <a:t>FIGO</a:t>
            </a:r>
            <a:r>
              <a:rPr lang="zh-TW" altLang="en-US" sz="3200" smtClean="0"/>
              <a:t>分期存活率</a:t>
            </a:r>
            <a:endParaRPr lang="zh-TW" altLang="en-US" sz="32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CE20B-11F2-46A7-BE20-93932E3F43B4}" type="slidenum">
              <a:rPr lang="zh-TW" altLang="en-US" smtClean="0"/>
              <a:pPr>
                <a:defRPr/>
              </a:pPr>
              <a:t>8</a:t>
            </a:fld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23856214"/>
              </p:ext>
            </p:extLst>
          </p:nvPr>
        </p:nvGraphicFramePr>
        <p:xfrm>
          <a:off x="179510" y="767436"/>
          <a:ext cx="8568953" cy="5253849"/>
        </p:xfrm>
        <a:graphic>
          <a:graphicData uri="http://schemas.openxmlformats.org/drawingml/2006/table">
            <a:tbl>
              <a:tblPr/>
              <a:tblGrid>
                <a:gridCol w="683438"/>
                <a:gridCol w="747048"/>
                <a:gridCol w="747048"/>
                <a:gridCol w="2130473"/>
                <a:gridCol w="2130473"/>
                <a:gridCol w="2130473"/>
              </a:tblGrid>
              <a:tr h="397813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期別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0" dirty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2019-2023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存活率：</a:t>
                      </a:r>
                      <a:r>
                        <a:rPr lang="zh-TW" altLang="en-US" sz="1200" b="1" kern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台大雲林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與全國</a:t>
                      </a:r>
                      <a:r>
                        <a:rPr lang="zh-TW" altLang="en-US" sz="1200" b="1" kern="0" dirty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五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年存活率比較</a:t>
                      </a:r>
                      <a:r>
                        <a:rPr lang="en-US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</a:rPr>
                        <a:t>(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百分比</a:t>
                      </a:r>
                      <a:r>
                        <a:rPr lang="en-US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</a:rPr>
                        <a:t>)</a:t>
                      </a:r>
                      <a:endParaRPr lang="zh-TW" altLang="zh-TW" sz="1200" b="1" kern="100" dirty="0" smtClea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140666"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期別人數</a:t>
                      </a:r>
                      <a:endParaRPr lang="en-US" alt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死亡個數</a:t>
                      </a:r>
                      <a:endParaRPr lang="en-US" alt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本院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</a:t>
                      </a:r>
                      <a:r>
                        <a:rPr lang="en-US" altLang="zh-TW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(</a:t>
                      </a:r>
                      <a:r>
                        <a:rPr lang="zh-TW" altLang="en-US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觀察</a:t>
                      </a:r>
                      <a:r>
                        <a:rPr lang="en-US" altLang="zh-TW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)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存活率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%95 % CI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全國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%</a:t>
                      </a:r>
                      <a:b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</a:b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95 % CI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醫學中心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%</a:t>
                      </a:r>
                      <a:b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</a:b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95 % CI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9512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第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1</a:t>
                      </a:r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12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0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100.00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88.27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89.97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( 100.00 , 100.00 )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( 85.00 , 91.54 )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( 86.33 , 93.61 )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43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第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2</a:t>
                      </a:r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2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50.00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77.60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79.54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( 0.00 , 100.00 )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( 69.97 , 85.23 )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( 70.87 , 88.22 )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4321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en-US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第</a:t>
                      </a:r>
                      <a:r>
                        <a:rPr lang="en-US" altLang="zh-TW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3</a:t>
                      </a:r>
                      <a:r>
                        <a:rPr lang="zh-TW" altLang="en-US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期</a:t>
                      </a:r>
                      <a:endParaRPr lang="zh-TW" altLang="zh-TW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16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8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43.75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51.03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51.08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( 15.92 , 71.58 )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( 45.18 , 56.88 )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( 44.25 , 57.91 )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4321">
                <a:tc rowSpan="2"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第</a:t>
                      </a: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4</a:t>
                      </a: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</a:t>
                      </a:r>
                      <a:endParaRPr lang="en-US" altLang="zh-TW" sz="1200" b="1" kern="1200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5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3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40.00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34.01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34.55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( 0.00 , 82.94 )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( 26.25 , 41.77 )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( 25.56 , 43.55 )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179512" y="6165304"/>
            <a:ext cx="78488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</a:rPr>
              <a:t>(1)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藍字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</a:rPr>
              <a:t>: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代表某</a:t>
            </a:r>
            <a:r>
              <a:rPr lang="zh-TW" altLang="en-US" sz="1100" dirty="0" smtClean="0"/>
              <a:t>年齡層未滿</a:t>
            </a:r>
            <a:r>
              <a:rPr lang="en-US" altLang="zh-TW" sz="1100" dirty="0" smtClean="0"/>
              <a:t>10</a:t>
            </a:r>
            <a:r>
              <a:rPr lang="zh-TW" altLang="en-US" sz="1100" dirty="0" smtClean="0"/>
              <a:t>人，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無法進行年齡標準化調整，故改呈現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觀察存活率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及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95 </a:t>
            </a:r>
            <a:r>
              <a:rPr lang="en-US" altLang="zh-TW" sz="1100" dirty="0">
                <a:latin typeface="微軟正黑體" pitchFamily="34" charset="-120"/>
                <a:ea typeface="微軟正黑體" pitchFamily="34" charset="-120"/>
                <a:cs typeface="Helvetica"/>
              </a:rPr>
              <a:t>% 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CI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。</a:t>
            </a:r>
            <a:endParaRPr lang="en-US" altLang="zh-TW" sz="1100" dirty="0" smtClean="0">
              <a:latin typeface="微軟正黑體" pitchFamily="34" charset="-120"/>
              <a:ea typeface="微軟正黑體" pitchFamily="34" charset="-120"/>
              <a:cs typeface="Helvetica"/>
            </a:endParaRPr>
          </a:p>
          <a:p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(2) 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存活率為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”-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  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”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，代表</a:t>
            </a:r>
            <a:r>
              <a:rPr lang="zh-TW" altLang="zh-TW" sz="1100" dirty="0" smtClean="0"/>
              <a:t>無個案數可追蹤至第</a:t>
            </a:r>
            <a:r>
              <a:rPr lang="en-US" altLang="zh-TW" sz="1100" dirty="0" smtClean="0"/>
              <a:t>5</a:t>
            </a:r>
            <a:r>
              <a:rPr lang="zh-TW" altLang="zh-TW" sz="1100" dirty="0" smtClean="0"/>
              <a:t>年以求得存活率</a:t>
            </a:r>
            <a:r>
              <a:rPr lang="en-US" altLang="zh-TW" sz="1100" dirty="0" smtClean="0"/>
              <a:t>,</a:t>
            </a:r>
            <a:r>
              <a:rPr lang="zh-TW" altLang="en-US" sz="1100" dirty="0" smtClean="0"/>
              <a:t>或是</a:t>
            </a:r>
            <a:r>
              <a:rPr lang="zh-TW" altLang="zh-TW" sz="1100" dirty="0" smtClean="0"/>
              <a:t>所有個案於第</a:t>
            </a:r>
            <a:r>
              <a:rPr lang="en-US" altLang="zh-TW" sz="1100" dirty="0" smtClean="0"/>
              <a:t>5</a:t>
            </a:r>
            <a:r>
              <a:rPr lang="zh-TW" altLang="zh-TW" sz="1100" dirty="0" smtClean="0"/>
              <a:t>年以前已全部死亡</a:t>
            </a:r>
            <a:r>
              <a:rPr lang="zh-TW" altLang="en-US" sz="1100" dirty="0" smtClean="0"/>
              <a:t>。</a:t>
            </a:r>
            <a:endParaRPr lang="zh-TW" altLang="zh-TW" sz="1100" dirty="0">
              <a:latin typeface="微軟正黑體" pitchFamily="34" charset="-120"/>
              <a:ea typeface="微軟正黑體" pitchFamily="34" charset="-120"/>
              <a:cs typeface="Helvetica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621"/>
            <a:ext cx="1522601" cy="71647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282657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6" y="-171400"/>
            <a:ext cx="8229600" cy="1143000"/>
          </a:xfrm>
        </p:spPr>
        <p:txBody>
          <a:bodyPr/>
          <a:lstStyle/>
          <a:p>
            <a:r>
              <a:rPr lang="zh-TW" altLang="en-US" sz="3200" smtClean="0"/>
              <a:t>乳癌存活率</a:t>
            </a:r>
            <a:endParaRPr lang="zh-TW" altLang="en-US" sz="32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CE20B-11F2-46A7-BE20-93932E3F43B4}" type="slidenum">
              <a:rPr lang="zh-TW" altLang="en-US" smtClean="0"/>
              <a:pPr>
                <a:defRPr/>
              </a:pPr>
              <a:t>9</a:t>
            </a:fld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33145128"/>
              </p:ext>
            </p:extLst>
          </p:nvPr>
        </p:nvGraphicFramePr>
        <p:xfrm>
          <a:off x="179510" y="767436"/>
          <a:ext cx="8568953" cy="5206920"/>
        </p:xfrm>
        <a:graphic>
          <a:graphicData uri="http://schemas.openxmlformats.org/drawingml/2006/table">
            <a:tbl>
              <a:tblPr/>
              <a:tblGrid>
                <a:gridCol w="683438"/>
                <a:gridCol w="747048"/>
                <a:gridCol w="747048"/>
                <a:gridCol w="2130473"/>
                <a:gridCol w="2130473"/>
                <a:gridCol w="2130473"/>
              </a:tblGrid>
              <a:tr h="397813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期別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0" dirty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2019-2023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存活率：</a:t>
                      </a:r>
                      <a:r>
                        <a:rPr lang="zh-TW" altLang="en-US" sz="1200" b="1" kern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台大雲林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與全國</a:t>
                      </a:r>
                      <a:r>
                        <a:rPr lang="zh-TW" altLang="en-US" sz="1200" b="1" kern="0" dirty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五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年存活率比較</a:t>
                      </a:r>
                      <a:r>
                        <a:rPr lang="en-US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</a:rPr>
                        <a:t>(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百分比</a:t>
                      </a:r>
                      <a:r>
                        <a:rPr lang="en-US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</a:rPr>
                        <a:t>)</a:t>
                      </a:r>
                      <a:endParaRPr lang="zh-TW" altLang="zh-TW" sz="1200" b="1" kern="100" dirty="0" smtClea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140666"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期別人數</a:t>
                      </a:r>
                      <a:endParaRPr lang="en-US" alt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死亡個數</a:t>
                      </a:r>
                      <a:endParaRPr lang="en-US" alt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本院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</a:t>
                      </a:r>
                      <a:r>
                        <a:rPr lang="en-US" altLang="zh-TW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(</a:t>
                      </a:r>
                      <a:r>
                        <a:rPr lang="zh-TW" altLang="en-US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觀察</a:t>
                      </a:r>
                      <a:r>
                        <a:rPr lang="en-US" altLang="zh-TW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)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存活率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%95 % CI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全國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%</a:t>
                      </a:r>
                      <a:b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</a:b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95 % CI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醫學中心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%</a:t>
                      </a:r>
                      <a:b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</a:b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95 % CI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9512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第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1</a:t>
                      </a:r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172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4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97.03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96.27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96.24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( 92.91 , 100.00 )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( 95.69 , 96.84 )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( 95.48 , 97.01 )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43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第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2</a:t>
                      </a:r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210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16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92.36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92.19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92.75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427392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( 84.66 , 100.00 )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( 91.43 , 92.95 )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( 91.78 , 93.73 )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4321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en-US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第</a:t>
                      </a:r>
                      <a:r>
                        <a:rPr lang="en-US" altLang="zh-TW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3</a:t>
                      </a:r>
                      <a:r>
                        <a:rPr lang="zh-TW" altLang="en-US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期</a:t>
                      </a:r>
                      <a:endParaRPr lang="zh-TW" altLang="zh-TW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67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15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75.78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80.43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80.78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( 64.90 , 86.67 )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( 78.58 , 82.29 )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( 78.25 , 83.31 )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321">
                <a:tc rowSpan="2"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第</a:t>
                      </a: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4</a:t>
                      </a: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</a:t>
                      </a:r>
                      <a:endParaRPr lang="en-US" altLang="zh-TW" sz="1200" b="1" kern="1200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45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23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28.90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44.28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47.02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( 6.57 , 51.23 )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( 41.18 , 47.39 )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( 43.01 , 51.04 )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179512" y="6165304"/>
            <a:ext cx="78488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</a:rPr>
              <a:t>(1)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藍字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</a:rPr>
              <a:t>: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代表某</a:t>
            </a:r>
            <a:r>
              <a:rPr lang="zh-TW" altLang="en-US" sz="1100" dirty="0" smtClean="0"/>
              <a:t>年齡層未滿</a:t>
            </a:r>
            <a:r>
              <a:rPr lang="en-US" altLang="zh-TW" sz="1100" dirty="0" smtClean="0"/>
              <a:t>10</a:t>
            </a:r>
            <a:r>
              <a:rPr lang="zh-TW" altLang="en-US" sz="1100" dirty="0" smtClean="0"/>
              <a:t>人，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無法進行年齡標準化調整，故改呈現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觀察存活率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及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95 </a:t>
            </a:r>
            <a:r>
              <a:rPr lang="en-US" altLang="zh-TW" sz="1100" dirty="0">
                <a:latin typeface="微軟正黑體" pitchFamily="34" charset="-120"/>
                <a:ea typeface="微軟正黑體" pitchFamily="34" charset="-120"/>
                <a:cs typeface="Helvetica"/>
              </a:rPr>
              <a:t>% 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CI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。</a:t>
            </a:r>
            <a:endParaRPr lang="en-US" altLang="zh-TW" sz="1100" dirty="0" smtClean="0">
              <a:latin typeface="微軟正黑體" pitchFamily="34" charset="-120"/>
              <a:ea typeface="微軟正黑體" pitchFamily="34" charset="-120"/>
              <a:cs typeface="Helvetica"/>
            </a:endParaRPr>
          </a:p>
          <a:p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(2) 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存活率為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”-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  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”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，代表</a:t>
            </a:r>
            <a:r>
              <a:rPr lang="zh-TW" altLang="zh-TW" sz="1100" dirty="0" smtClean="0"/>
              <a:t>無個案數可追蹤至第</a:t>
            </a:r>
            <a:r>
              <a:rPr lang="en-US" altLang="zh-TW" sz="1100" dirty="0" smtClean="0"/>
              <a:t>5</a:t>
            </a:r>
            <a:r>
              <a:rPr lang="zh-TW" altLang="zh-TW" sz="1100" dirty="0" smtClean="0"/>
              <a:t>年以求得存活率</a:t>
            </a:r>
            <a:r>
              <a:rPr lang="en-US" altLang="zh-TW" sz="1100" dirty="0" smtClean="0"/>
              <a:t>,</a:t>
            </a:r>
            <a:r>
              <a:rPr lang="zh-TW" altLang="en-US" sz="1100" dirty="0" smtClean="0"/>
              <a:t>或是</a:t>
            </a:r>
            <a:r>
              <a:rPr lang="zh-TW" altLang="zh-TW" sz="1100" dirty="0" smtClean="0"/>
              <a:t>所有個案於第</a:t>
            </a:r>
            <a:r>
              <a:rPr lang="en-US" altLang="zh-TW" sz="1100" dirty="0" smtClean="0"/>
              <a:t>5</a:t>
            </a:r>
            <a:r>
              <a:rPr lang="zh-TW" altLang="zh-TW" sz="1100" dirty="0" smtClean="0"/>
              <a:t>年以前已全部死亡</a:t>
            </a:r>
            <a:r>
              <a:rPr lang="zh-TW" altLang="en-US" sz="1100" dirty="0" smtClean="0"/>
              <a:t>。</a:t>
            </a:r>
            <a:endParaRPr lang="zh-TW" altLang="zh-TW" sz="1100" dirty="0">
              <a:latin typeface="微軟正黑體" pitchFamily="34" charset="-120"/>
              <a:ea typeface="微軟正黑體" pitchFamily="34" charset="-120"/>
              <a:cs typeface="Helvetica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621"/>
            <a:ext cx="1522601" cy="71647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830902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6" y="-171400"/>
            <a:ext cx="8229600" cy="1143000"/>
          </a:xfrm>
        </p:spPr>
        <p:txBody>
          <a:bodyPr/>
          <a:lstStyle/>
          <a:p>
            <a:r>
              <a:rPr lang="zh-TW" altLang="en-US" sz="3200" dirty="0"/>
              <a:t>肺癌 非小細胞癌</a:t>
            </a:r>
            <a:r>
              <a:rPr lang="en-US" altLang="zh-TW" sz="3200" dirty="0" smtClean="0"/>
              <a:t>-ALL</a:t>
            </a:r>
            <a:r>
              <a:rPr lang="zh-TW" altLang="en-US" sz="3200" dirty="0" smtClean="0"/>
              <a:t>存活率</a:t>
            </a:r>
            <a:endParaRPr lang="zh-TW" altLang="en-US" sz="32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CE20B-11F2-46A7-BE20-93932E3F43B4}" type="slidenum">
              <a:rPr lang="zh-TW" altLang="en-US" smtClean="0"/>
              <a:pPr>
                <a:defRPr/>
              </a:pPr>
              <a:t>10</a:t>
            </a:fld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607093104"/>
              </p:ext>
            </p:extLst>
          </p:nvPr>
        </p:nvGraphicFramePr>
        <p:xfrm>
          <a:off x="323530" y="767437"/>
          <a:ext cx="8496942" cy="5625771"/>
        </p:xfrm>
        <a:graphic>
          <a:graphicData uri="http://schemas.openxmlformats.org/drawingml/2006/table">
            <a:tbl>
              <a:tblPr/>
              <a:tblGrid>
                <a:gridCol w="677695"/>
                <a:gridCol w="740770"/>
                <a:gridCol w="740770"/>
                <a:gridCol w="2112569"/>
                <a:gridCol w="2112569"/>
                <a:gridCol w="2112569"/>
              </a:tblGrid>
              <a:tr h="276244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期別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0" dirty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2019-2023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存活率：</a:t>
                      </a:r>
                      <a:r>
                        <a:rPr lang="zh-TW" altLang="en-US" sz="1200" b="1" kern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台大雲林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與全國</a:t>
                      </a:r>
                      <a:r>
                        <a:rPr lang="zh-TW" altLang="en-US" sz="1200" b="1" kern="0" dirty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五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年存活率比較</a:t>
                      </a:r>
                      <a:r>
                        <a:rPr lang="en-US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</a:rPr>
                        <a:t>(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百分比</a:t>
                      </a:r>
                      <a:r>
                        <a:rPr lang="en-US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</a:rPr>
                        <a:t>)</a:t>
                      </a:r>
                      <a:endParaRPr lang="zh-TW" altLang="zh-TW" sz="1200" b="1" kern="100" dirty="0" smtClea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792090"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期別人數</a:t>
                      </a:r>
                      <a:endParaRPr lang="en-US" alt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死亡個數</a:t>
                      </a:r>
                      <a:endParaRPr lang="en-US" alt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本院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</a:t>
                      </a:r>
                      <a:r>
                        <a:rPr lang="en-US" altLang="zh-TW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(</a:t>
                      </a:r>
                      <a:r>
                        <a:rPr lang="zh-TW" altLang="en-US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觀察</a:t>
                      </a:r>
                      <a:r>
                        <a:rPr lang="en-US" altLang="zh-TW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)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存活率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%95 % CI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全國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%</a:t>
                      </a:r>
                      <a:b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</a:b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95 % CI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醫學中心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%</a:t>
                      </a:r>
                      <a:b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</a:b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95 % CI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7437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第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1</a:t>
                      </a:r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286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35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75.02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84.41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85.50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310740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( 62.03 , 88.00 )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( 83.31 , 85.51 )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( 84.23 , 86.78 )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937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第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2</a:t>
                      </a:r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28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9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66.95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60.49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62.01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329373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( 49.19 , 84.71 )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( 56.18 , 64.80 )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( 56.82 , 67.20 )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9373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en-US" sz="1200" b="1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第</a:t>
                      </a:r>
                      <a:r>
                        <a:rPr lang="en-US" altLang="zh-TW" sz="1200" b="1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3</a:t>
                      </a:r>
                      <a:r>
                        <a:rPr lang="zh-TW" altLang="en-US" sz="1200" b="1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期</a:t>
                      </a:r>
                      <a:endParaRPr lang="zh-TW" altLang="zh-TW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131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85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29.43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35.82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39.15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329373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( 14.07 , 44.79 )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( 33.25 , 38.39 )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( 35.90 , 42.41 )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9373">
                <a:tc rowSpan="2"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zh-TW" altLang="en-US" sz="1200" b="1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第</a:t>
                      </a:r>
                      <a:r>
                        <a:rPr lang="en-US" altLang="zh-TW" sz="1200" b="1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3A</a:t>
                      </a:r>
                      <a:r>
                        <a:rPr lang="zh-TW" altLang="en-US" sz="1200" b="1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</a:t>
                      </a:r>
                      <a:endParaRPr lang="en-US" altLang="zh-TW" sz="1200" b="1" kern="1200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44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23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43.73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45.73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48.60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329373">
                <a:tc vMerge="1">
                  <a:txBody>
                    <a:bodyPr/>
                    <a:lstStyle/>
                    <a:p>
                      <a:pPr algn="l" fontAlgn="ctr"/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( 27.84 , 59.63 )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( 41.71 , 49.75 )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( 43.68 , 53.52 )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9373"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en-US" sz="1200" b="1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第</a:t>
                      </a:r>
                      <a:r>
                        <a:rPr lang="en-US" altLang="zh-TW" sz="1200" b="1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3B</a:t>
                      </a:r>
                      <a:r>
                        <a:rPr lang="zh-TW" altLang="en-US" sz="1200" b="1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期</a:t>
                      </a:r>
                      <a:endParaRPr lang="zh-TW" altLang="zh-TW" sz="1200" b="1" i="0" u="none" strike="noStrike" kern="120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59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38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30.56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30.91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33.91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9217">
                <a:tc vMerge="1"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lang="en-US" altLang="zh-TW" sz="1200" b="1" kern="1200" dirty="0" smtClean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( 12.67 , 48.46 )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( 26.77 , 35.05 )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( 28.58 , 39.25 )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9373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en-US" sz="1200" b="1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第</a:t>
                      </a:r>
                      <a:r>
                        <a:rPr lang="en-US" altLang="zh-TW" sz="1200" b="1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3C</a:t>
                      </a:r>
                      <a:r>
                        <a:rPr lang="zh-TW" altLang="en-US" sz="1200" b="1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期</a:t>
                      </a:r>
                      <a:endParaRPr lang="zh-TW" altLang="zh-TW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28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24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-</a:t>
                      </a:r>
                      <a:endParaRPr lang="en-US" altLang="zh-TW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23.61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26.98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9373">
                <a:tc vMerge="1"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lang="en-US" altLang="zh-TW" sz="1200" b="1" kern="1200" dirty="0" smtClean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-</a:t>
                      </a:r>
                      <a:endParaRPr lang="en-US" altLang="zh-TW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( 18.37 , 28.85 )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( 20.73 , 33.23 )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9373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en-US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第</a:t>
                      </a:r>
                      <a:r>
                        <a:rPr lang="en-US" altLang="zh-TW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4</a:t>
                      </a:r>
                      <a:r>
                        <a:rPr lang="zh-TW" altLang="en-US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期</a:t>
                      </a:r>
                      <a:endParaRPr lang="zh-TW" altLang="zh-TW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450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377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36.96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44.07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47.31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9373">
                <a:tc vMerge="1"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lang="en-US" altLang="zh-TW" sz="1200" b="1" kern="1200" dirty="0" smtClean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( 30.15 , 43.78 )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( 43.24 , 44.91 )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( 46.26 , 48.36 )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0" y="6427113"/>
            <a:ext cx="78488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</a:rPr>
              <a:t>(1)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藍字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</a:rPr>
              <a:t>: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代表某</a:t>
            </a:r>
            <a:r>
              <a:rPr lang="zh-TW" altLang="en-US" sz="1100" dirty="0" smtClean="0"/>
              <a:t>年齡層未滿</a:t>
            </a:r>
            <a:r>
              <a:rPr lang="en-US" altLang="zh-TW" sz="1100" dirty="0" smtClean="0"/>
              <a:t>10</a:t>
            </a:r>
            <a:r>
              <a:rPr lang="zh-TW" altLang="en-US" sz="1100" dirty="0" smtClean="0"/>
              <a:t>人，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無法進行年齡標準化調整，故改呈現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觀察存活率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及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95 </a:t>
            </a:r>
            <a:r>
              <a:rPr lang="en-US" altLang="zh-TW" sz="1100" dirty="0">
                <a:latin typeface="微軟正黑體" pitchFamily="34" charset="-120"/>
                <a:ea typeface="微軟正黑體" pitchFamily="34" charset="-120"/>
                <a:cs typeface="Helvetica"/>
              </a:rPr>
              <a:t>% 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CI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。</a:t>
            </a:r>
            <a:endParaRPr lang="en-US" altLang="zh-TW" sz="1100" dirty="0" smtClean="0">
              <a:latin typeface="微軟正黑體" pitchFamily="34" charset="-120"/>
              <a:ea typeface="微軟正黑體" pitchFamily="34" charset="-120"/>
              <a:cs typeface="Helvetica"/>
            </a:endParaRPr>
          </a:p>
          <a:p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(2) 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存活率為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”-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  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”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，代表</a:t>
            </a:r>
            <a:r>
              <a:rPr lang="zh-TW" altLang="zh-TW" sz="1100" dirty="0" smtClean="0"/>
              <a:t>無個案數可追蹤至第</a:t>
            </a:r>
            <a:r>
              <a:rPr lang="en-US" altLang="zh-TW" sz="1100" dirty="0" smtClean="0"/>
              <a:t>5</a:t>
            </a:r>
            <a:r>
              <a:rPr lang="zh-TW" altLang="zh-TW" sz="1100" dirty="0" smtClean="0"/>
              <a:t>年以求得存活率</a:t>
            </a:r>
            <a:r>
              <a:rPr lang="en-US" altLang="zh-TW" sz="1100" dirty="0" smtClean="0"/>
              <a:t>,</a:t>
            </a:r>
            <a:r>
              <a:rPr lang="zh-TW" altLang="en-US" sz="1100" dirty="0" smtClean="0"/>
              <a:t>或是</a:t>
            </a:r>
            <a:r>
              <a:rPr lang="zh-TW" altLang="zh-TW" sz="1100" dirty="0" smtClean="0"/>
              <a:t>所有個案於第</a:t>
            </a:r>
            <a:r>
              <a:rPr lang="en-US" altLang="zh-TW" sz="1100" dirty="0" smtClean="0"/>
              <a:t>5</a:t>
            </a:r>
            <a:r>
              <a:rPr lang="zh-TW" altLang="zh-TW" sz="1100" dirty="0" smtClean="0"/>
              <a:t>年以前已全部死亡</a:t>
            </a:r>
            <a:r>
              <a:rPr lang="zh-TW" altLang="en-US" sz="1100" dirty="0" smtClean="0"/>
              <a:t>。</a:t>
            </a:r>
            <a:endParaRPr lang="zh-TW" altLang="zh-TW" sz="1100" dirty="0">
              <a:latin typeface="微軟正黑體" pitchFamily="34" charset="-120"/>
              <a:ea typeface="微軟正黑體" pitchFamily="34" charset="-120"/>
              <a:cs typeface="Helvetica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621"/>
            <a:ext cx="1522601" cy="71647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170256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6" y="-171400"/>
            <a:ext cx="8229600" cy="1143000"/>
          </a:xfrm>
        </p:spPr>
        <p:txBody>
          <a:bodyPr/>
          <a:lstStyle/>
          <a:p>
            <a:r>
              <a:rPr lang="zh-TW" altLang="en-US" sz="3200" dirty="0"/>
              <a:t>肺癌 非小細胞癌</a:t>
            </a:r>
            <a:r>
              <a:rPr lang="en-US" altLang="zh-TW" sz="3200" dirty="0"/>
              <a:t>-</a:t>
            </a:r>
            <a:r>
              <a:rPr lang="zh-TW" altLang="en-US" sz="3200" dirty="0"/>
              <a:t>腺</a:t>
            </a:r>
            <a:r>
              <a:rPr lang="zh-TW" altLang="en-US" sz="3200" dirty="0" smtClean="0"/>
              <a:t>癌存活率</a:t>
            </a:r>
            <a:endParaRPr lang="zh-TW" altLang="en-US" sz="32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CE20B-11F2-46A7-BE20-93932E3F43B4}" type="slidenum">
              <a:rPr lang="zh-TW" altLang="en-US" smtClean="0"/>
              <a:pPr>
                <a:defRPr/>
              </a:pPr>
              <a:t>11</a:t>
            </a:fld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607093104"/>
              </p:ext>
            </p:extLst>
          </p:nvPr>
        </p:nvGraphicFramePr>
        <p:xfrm>
          <a:off x="323530" y="767437"/>
          <a:ext cx="8496942" cy="5625771"/>
        </p:xfrm>
        <a:graphic>
          <a:graphicData uri="http://schemas.openxmlformats.org/drawingml/2006/table">
            <a:tbl>
              <a:tblPr/>
              <a:tblGrid>
                <a:gridCol w="677695"/>
                <a:gridCol w="740770"/>
                <a:gridCol w="740770"/>
                <a:gridCol w="2112569"/>
                <a:gridCol w="2112569"/>
                <a:gridCol w="2112569"/>
              </a:tblGrid>
              <a:tr h="276244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期別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0" dirty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2019-2023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存活率：</a:t>
                      </a:r>
                      <a:r>
                        <a:rPr lang="zh-TW" altLang="en-US" sz="1200" b="1" kern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台大雲林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與全國</a:t>
                      </a:r>
                      <a:r>
                        <a:rPr lang="zh-TW" altLang="en-US" sz="1200" b="1" kern="0" dirty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五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年存活率比較</a:t>
                      </a:r>
                      <a:r>
                        <a:rPr lang="en-US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</a:rPr>
                        <a:t>(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百分比</a:t>
                      </a:r>
                      <a:r>
                        <a:rPr lang="en-US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</a:rPr>
                        <a:t>)</a:t>
                      </a:r>
                      <a:endParaRPr lang="zh-TW" altLang="zh-TW" sz="1200" b="1" kern="100" dirty="0" smtClea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792090"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期別人數</a:t>
                      </a:r>
                      <a:endParaRPr lang="en-US" alt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死亡個數</a:t>
                      </a:r>
                      <a:endParaRPr lang="en-US" alt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本院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</a:t>
                      </a:r>
                      <a:r>
                        <a:rPr lang="en-US" altLang="zh-TW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(</a:t>
                      </a:r>
                      <a:r>
                        <a:rPr lang="zh-TW" altLang="en-US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觀察</a:t>
                      </a:r>
                      <a:r>
                        <a:rPr lang="en-US" altLang="zh-TW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)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存活率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%95 % CI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全國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%</a:t>
                      </a:r>
                      <a:b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</a:b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95 % CI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醫學中心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%</a:t>
                      </a:r>
                      <a:b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</a:b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95 % CI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7437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第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1</a:t>
                      </a:r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268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28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77.85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86.74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87.55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310740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( 64.26 , 91.45 )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( 85.62 , 87.85 )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( 86.26 , 88.84 )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937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第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2</a:t>
                      </a:r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14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3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78.57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68.02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68.02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329373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( 57.08 , 100.00 )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( 62.86 , 73.17 )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( 61.89 , 74.14 )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9373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en-US" sz="1200" b="1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第</a:t>
                      </a:r>
                      <a:r>
                        <a:rPr lang="en-US" altLang="zh-TW" sz="1200" b="1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3</a:t>
                      </a:r>
                      <a:r>
                        <a:rPr lang="zh-TW" altLang="en-US" sz="1200" b="1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期</a:t>
                      </a:r>
                      <a:endParaRPr lang="zh-TW" altLang="zh-TW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62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31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24.17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45.07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47.74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329373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( 5.33 , 43.01 )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( 41.40 , 48.75 )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( 43.26 , 52.23 )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9373">
                <a:tc rowSpan="2"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zh-TW" altLang="en-US" sz="1200" b="1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第</a:t>
                      </a:r>
                      <a:r>
                        <a:rPr lang="en-US" altLang="zh-TW" sz="1200" b="1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3A</a:t>
                      </a:r>
                      <a:r>
                        <a:rPr lang="zh-TW" altLang="en-US" sz="1200" b="1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</a:t>
                      </a:r>
                      <a:endParaRPr lang="en-US" altLang="zh-TW" sz="1200" b="1" kern="1200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23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8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63.52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53.73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56.53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329373">
                <a:tc vMerge="1">
                  <a:txBody>
                    <a:bodyPr/>
                    <a:lstStyle/>
                    <a:p>
                      <a:pPr algn="l" fontAlgn="ctr"/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( 43.03 , 84.01 )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( 48.47 , 58.99 )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( 50.33 , 62.73 )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9373"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en-US" sz="1200" b="1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第</a:t>
                      </a:r>
                      <a:r>
                        <a:rPr lang="en-US" altLang="zh-TW" sz="1200" b="1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3B</a:t>
                      </a:r>
                      <a:r>
                        <a:rPr lang="zh-TW" altLang="en-US" sz="1200" b="1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期</a:t>
                      </a:r>
                      <a:endParaRPr lang="zh-TW" altLang="zh-TW" sz="1200" b="1" i="0" u="none" strike="noStrike" kern="120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29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16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34.97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39.39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40.72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9217">
                <a:tc vMerge="1"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lang="en-US" altLang="zh-TW" sz="1200" b="1" kern="1200" dirty="0" smtClean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( 12.71 , 57.23 )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( 33.21 , 45.57 )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( 33.03 , 48.40 )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9373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en-US" sz="1200" b="1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第</a:t>
                      </a:r>
                      <a:r>
                        <a:rPr lang="en-US" altLang="zh-TW" sz="1200" b="1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3C</a:t>
                      </a:r>
                      <a:r>
                        <a:rPr lang="zh-TW" altLang="en-US" sz="1200" b="1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期</a:t>
                      </a:r>
                      <a:endParaRPr lang="zh-TW" altLang="zh-TW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10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5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-</a:t>
                      </a:r>
                      <a:endParaRPr lang="en-US" altLang="zh-TW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31.62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35.43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9373">
                <a:tc vMerge="1"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lang="en-US" altLang="zh-TW" sz="1200" b="1" kern="1200" dirty="0" smtClean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-</a:t>
                      </a:r>
                      <a:endParaRPr lang="en-US" altLang="zh-TW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( 23.74 , 39.50 )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( 25.39 , 45.46 )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9373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en-US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第</a:t>
                      </a:r>
                      <a:r>
                        <a:rPr lang="en-US" altLang="zh-TW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4</a:t>
                      </a:r>
                      <a:r>
                        <a:rPr lang="zh-TW" altLang="en-US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期</a:t>
                      </a:r>
                      <a:endParaRPr lang="zh-TW" altLang="zh-TW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322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270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12.76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16.76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17.95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9373">
                <a:tc vMerge="1"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lang="en-US" altLang="zh-TW" sz="1200" b="1" kern="1200" dirty="0" smtClean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( 3.68 , 21.83 )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( 15.58 , 17.94 )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( 16.43 , 19.46 )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0" y="6427113"/>
            <a:ext cx="78488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</a:rPr>
              <a:t>(1)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藍字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</a:rPr>
              <a:t>: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代表某</a:t>
            </a:r>
            <a:r>
              <a:rPr lang="zh-TW" altLang="en-US" sz="1100" dirty="0" smtClean="0"/>
              <a:t>年齡層未滿</a:t>
            </a:r>
            <a:r>
              <a:rPr lang="en-US" altLang="zh-TW" sz="1100" dirty="0" smtClean="0"/>
              <a:t>10</a:t>
            </a:r>
            <a:r>
              <a:rPr lang="zh-TW" altLang="en-US" sz="1100" dirty="0" smtClean="0"/>
              <a:t>人，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無法進行年齡標準化調整，故改呈現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觀察存活率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及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95 </a:t>
            </a:r>
            <a:r>
              <a:rPr lang="en-US" altLang="zh-TW" sz="1100" dirty="0">
                <a:latin typeface="微軟正黑體" pitchFamily="34" charset="-120"/>
                <a:ea typeface="微軟正黑體" pitchFamily="34" charset="-120"/>
                <a:cs typeface="Helvetica"/>
              </a:rPr>
              <a:t>% 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CI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。</a:t>
            </a:r>
            <a:endParaRPr lang="en-US" altLang="zh-TW" sz="1100" dirty="0" smtClean="0">
              <a:latin typeface="微軟正黑體" pitchFamily="34" charset="-120"/>
              <a:ea typeface="微軟正黑體" pitchFamily="34" charset="-120"/>
              <a:cs typeface="Helvetica"/>
            </a:endParaRPr>
          </a:p>
          <a:p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(2) 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存活率為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”-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  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”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，代表</a:t>
            </a:r>
            <a:r>
              <a:rPr lang="zh-TW" altLang="zh-TW" sz="1100" dirty="0" smtClean="0"/>
              <a:t>無個案數可追蹤至第</a:t>
            </a:r>
            <a:r>
              <a:rPr lang="en-US" altLang="zh-TW" sz="1100" dirty="0" smtClean="0"/>
              <a:t>5</a:t>
            </a:r>
            <a:r>
              <a:rPr lang="zh-TW" altLang="zh-TW" sz="1100" dirty="0" smtClean="0"/>
              <a:t>年以求得存活率</a:t>
            </a:r>
            <a:r>
              <a:rPr lang="en-US" altLang="zh-TW" sz="1100" dirty="0" smtClean="0"/>
              <a:t>,</a:t>
            </a:r>
            <a:r>
              <a:rPr lang="zh-TW" altLang="en-US" sz="1100" dirty="0" smtClean="0"/>
              <a:t>或是</a:t>
            </a:r>
            <a:r>
              <a:rPr lang="zh-TW" altLang="zh-TW" sz="1100" dirty="0" smtClean="0"/>
              <a:t>所有個案於第</a:t>
            </a:r>
            <a:r>
              <a:rPr lang="en-US" altLang="zh-TW" sz="1100" dirty="0" smtClean="0"/>
              <a:t>5</a:t>
            </a:r>
            <a:r>
              <a:rPr lang="zh-TW" altLang="zh-TW" sz="1100" dirty="0" smtClean="0"/>
              <a:t>年以前已全部死亡</a:t>
            </a:r>
            <a:r>
              <a:rPr lang="zh-TW" altLang="en-US" sz="1100" dirty="0" smtClean="0"/>
              <a:t>。</a:t>
            </a:r>
            <a:endParaRPr lang="zh-TW" altLang="zh-TW" sz="1100" dirty="0">
              <a:latin typeface="微軟正黑體" pitchFamily="34" charset="-120"/>
              <a:ea typeface="微軟正黑體" pitchFamily="34" charset="-120"/>
              <a:cs typeface="Helvetica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621"/>
            <a:ext cx="1522601" cy="71647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170256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-171400"/>
            <a:ext cx="8229600" cy="1143000"/>
          </a:xfrm>
        </p:spPr>
        <p:txBody>
          <a:bodyPr/>
          <a:lstStyle/>
          <a:p>
            <a:r>
              <a:rPr lang="zh-TW" altLang="en-US" sz="3200" dirty="0"/>
              <a:t>肺癌 非小細胞癌</a:t>
            </a:r>
            <a:r>
              <a:rPr lang="en-US" altLang="zh-TW" sz="3200" dirty="0" smtClean="0"/>
              <a:t>-</a:t>
            </a:r>
            <a:r>
              <a:rPr lang="zh-TW" altLang="en-US" sz="3200" dirty="0" smtClean="0"/>
              <a:t>鱗狀細胞癌存活率</a:t>
            </a:r>
            <a:endParaRPr lang="zh-TW" altLang="en-US" sz="32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CE20B-11F2-46A7-BE20-93932E3F43B4}" type="slidenum">
              <a:rPr lang="zh-TW" altLang="en-US" smtClean="0"/>
              <a:pPr>
                <a:defRPr/>
              </a:pPr>
              <a:t>12</a:t>
            </a:fld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607093104"/>
              </p:ext>
            </p:extLst>
          </p:nvPr>
        </p:nvGraphicFramePr>
        <p:xfrm>
          <a:off x="323530" y="767437"/>
          <a:ext cx="8496942" cy="5625771"/>
        </p:xfrm>
        <a:graphic>
          <a:graphicData uri="http://schemas.openxmlformats.org/drawingml/2006/table">
            <a:tbl>
              <a:tblPr/>
              <a:tblGrid>
                <a:gridCol w="677695"/>
                <a:gridCol w="740770"/>
                <a:gridCol w="740770"/>
                <a:gridCol w="2112569"/>
                <a:gridCol w="2112569"/>
                <a:gridCol w="2112569"/>
              </a:tblGrid>
              <a:tr h="276244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期別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0" dirty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2019-2023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存活率：</a:t>
                      </a:r>
                      <a:r>
                        <a:rPr lang="zh-TW" altLang="en-US" sz="1200" b="1" kern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台大雲林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與全國</a:t>
                      </a:r>
                      <a:r>
                        <a:rPr lang="zh-TW" altLang="en-US" sz="1200" b="1" kern="0" dirty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五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年存活率比較</a:t>
                      </a:r>
                      <a:r>
                        <a:rPr lang="en-US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</a:rPr>
                        <a:t>(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百分比</a:t>
                      </a:r>
                      <a:r>
                        <a:rPr lang="en-US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</a:rPr>
                        <a:t>)</a:t>
                      </a:r>
                      <a:endParaRPr lang="zh-TW" altLang="zh-TW" sz="1200" b="1" kern="100" dirty="0" smtClea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792090"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期別人數</a:t>
                      </a:r>
                      <a:endParaRPr lang="en-US" alt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死亡個數</a:t>
                      </a:r>
                      <a:endParaRPr lang="en-US" alt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本院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</a:t>
                      </a:r>
                      <a:r>
                        <a:rPr lang="en-US" altLang="zh-TW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(</a:t>
                      </a:r>
                      <a:r>
                        <a:rPr lang="zh-TW" altLang="en-US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觀察</a:t>
                      </a:r>
                      <a:r>
                        <a:rPr lang="en-US" altLang="zh-TW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)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存活率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%95 % CI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全國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%</a:t>
                      </a:r>
                      <a:b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</a:b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95 % CI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醫學中心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%</a:t>
                      </a:r>
                      <a:b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</a:b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95 % CI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7437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第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1</a:t>
                      </a:r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11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6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39.77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60.92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63.96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310740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( 7.76 , 71.78 )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( 54.41 , 67.44 )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( 56.11 , 71.81 )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937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第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2</a:t>
                      </a:r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11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4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63.64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45.42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49.07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329373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( 35.21 , 92.06 )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( 36.64 , 54.21 )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( 38.67 , 59.46 )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9373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en-US" sz="1200" b="1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第</a:t>
                      </a:r>
                      <a:r>
                        <a:rPr lang="en-US" altLang="zh-TW" sz="1200" b="1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3</a:t>
                      </a:r>
                      <a:r>
                        <a:rPr lang="zh-TW" altLang="en-US" sz="1200" b="1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期</a:t>
                      </a:r>
                      <a:endParaRPr lang="zh-TW" altLang="zh-TW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58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46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16.88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22.77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25.43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329373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( 6.13 , 27.62 )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( 18.70 , 26.85 )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( 20.01 , 30.85 )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9373">
                <a:tc rowSpan="2"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zh-TW" altLang="en-US" sz="1200" b="1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第</a:t>
                      </a:r>
                      <a:r>
                        <a:rPr lang="en-US" altLang="zh-TW" sz="1200" b="1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3A</a:t>
                      </a:r>
                      <a:r>
                        <a:rPr lang="zh-TW" altLang="en-US" sz="1200" b="1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</a:t>
                      </a:r>
                      <a:endParaRPr lang="en-US" altLang="zh-TW" sz="1200" b="1" kern="1200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18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13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19.05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29.12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29.90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329373">
                <a:tc vMerge="1">
                  <a:txBody>
                    <a:bodyPr/>
                    <a:lstStyle/>
                    <a:p>
                      <a:pPr algn="l" fontAlgn="ctr"/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( 0.00 , 40.92 )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( 22.19 , 36.05 )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( 20.54 , 39.26 )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9373"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en-US" sz="1200" b="1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第</a:t>
                      </a:r>
                      <a:r>
                        <a:rPr lang="en-US" altLang="zh-TW" sz="1200" b="1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3B</a:t>
                      </a:r>
                      <a:r>
                        <a:rPr lang="zh-TW" altLang="en-US" sz="1200" b="1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期</a:t>
                      </a:r>
                      <a:endParaRPr lang="zh-TW" altLang="zh-TW" sz="1200" b="1" i="0" u="none" strike="noStrike" kern="120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27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19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24.69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21.49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25.52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9217">
                <a:tc vMerge="1"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lang="en-US" altLang="zh-TW" sz="1200" b="1" kern="1200" dirty="0" smtClean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( 7.84 , 41.55 )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( 16.21 , 26.78 )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( 18.41 , 32.63 )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9373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en-US" sz="1200" b="1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第</a:t>
                      </a:r>
                      <a:r>
                        <a:rPr lang="en-US" altLang="zh-TW" sz="1200" b="1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3C</a:t>
                      </a:r>
                      <a:r>
                        <a:rPr lang="zh-TW" altLang="en-US" sz="1200" b="1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期</a:t>
                      </a:r>
                      <a:endParaRPr lang="zh-TW" altLang="zh-TW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13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13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1" i="0" u="none" strike="noStrike" kern="1200" dirty="0" smtClean="0">
                          <a:solidFill>
                            <a:srgbClr val="0033CC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-</a:t>
                      </a:r>
                      <a:endParaRPr lang="en-US" altLang="zh-TW" sz="1200" b="1" i="0" u="none" strike="noStrike" kern="1200" dirty="0">
                        <a:solidFill>
                          <a:srgbClr val="0033CC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16.85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18.55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9373">
                <a:tc vMerge="1"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lang="en-US" altLang="zh-TW" sz="1200" b="1" kern="1200" dirty="0" smtClean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1" i="0" u="none" strike="noStrike" kern="1200" dirty="0" smtClean="0">
                          <a:solidFill>
                            <a:srgbClr val="0033CC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-</a:t>
                      </a:r>
                      <a:endParaRPr lang="en-US" altLang="zh-TW" sz="1200" b="1" i="0" u="none" strike="noStrike" kern="1200" dirty="0">
                        <a:solidFill>
                          <a:srgbClr val="0033CC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( 10.18 , 23.53 )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( 9.82 , 27.29 )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9373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en-US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第</a:t>
                      </a:r>
                      <a:r>
                        <a:rPr lang="en-US" altLang="zh-TW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4</a:t>
                      </a:r>
                      <a:r>
                        <a:rPr lang="zh-TW" altLang="en-US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期</a:t>
                      </a:r>
                      <a:endParaRPr lang="zh-TW" altLang="zh-TW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71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65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7.39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7.78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9.72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9373">
                <a:tc vMerge="1"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lang="en-US" altLang="zh-TW" sz="1200" b="1" kern="1200" dirty="0" smtClean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( 0.72 , 14.07 )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( 5.37 , 10.18 )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( 6.91 , 12.54 )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0" y="6427113"/>
            <a:ext cx="78488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</a:rPr>
              <a:t>(1)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藍字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</a:rPr>
              <a:t>: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代表某</a:t>
            </a:r>
            <a:r>
              <a:rPr lang="zh-TW" altLang="en-US" sz="1100" dirty="0" smtClean="0"/>
              <a:t>年齡層未滿</a:t>
            </a:r>
            <a:r>
              <a:rPr lang="en-US" altLang="zh-TW" sz="1100" dirty="0" smtClean="0"/>
              <a:t>10</a:t>
            </a:r>
            <a:r>
              <a:rPr lang="zh-TW" altLang="en-US" sz="1100" dirty="0" smtClean="0"/>
              <a:t>人，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無法進行年齡標準化調整，故改呈現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觀察存活率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及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95 </a:t>
            </a:r>
            <a:r>
              <a:rPr lang="en-US" altLang="zh-TW" sz="1100" dirty="0">
                <a:latin typeface="微軟正黑體" pitchFamily="34" charset="-120"/>
                <a:ea typeface="微軟正黑體" pitchFamily="34" charset="-120"/>
                <a:cs typeface="Helvetica"/>
              </a:rPr>
              <a:t>% 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CI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。</a:t>
            </a:r>
            <a:endParaRPr lang="en-US" altLang="zh-TW" sz="1100" dirty="0" smtClean="0">
              <a:latin typeface="微軟正黑體" pitchFamily="34" charset="-120"/>
              <a:ea typeface="微軟正黑體" pitchFamily="34" charset="-120"/>
              <a:cs typeface="Helvetica"/>
            </a:endParaRPr>
          </a:p>
          <a:p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(2) 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存活率為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”-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  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”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，代表</a:t>
            </a:r>
            <a:r>
              <a:rPr lang="zh-TW" altLang="zh-TW" sz="1100" dirty="0" smtClean="0"/>
              <a:t>無個案數可追蹤至第</a:t>
            </a:r>
            <a:r>
              <a:rPr lang="en-US" altLang="zh-TW" sz="1100" dirty="0" smtClean="0"/>
              <a:t>5</a:t>
            </a:r>
            <a:r>
              <a:rPr lang="zh-TW" altLang="zh-TW" sz="1100" dirty="0" smtClean="0"/>
              <a:t>年以求得存活率</a:t>
            </a:r>
            <a:r>
              <a:rPr lang="en-US" altLang="zh-TW" sz="1100" dirty="0" smtClean="0"/>
              <a:t>,</a:t>
            </a:r>
            <a:r>
              <a:rPr lang="zh-TW" altLang="en-US" sz="1100" dirty="0" smtClean="0"/>
              <a:t>或是</a:t>
            </a:r>
            <a:r>
              <a:rPr lang="zh-TW" altLang="zh-TW" sz="1100" dirty="0" smtClean="0"/>
              <a:t>所有個案於第</a:t>
            </a:r>
            <a:r>
              <a:rPr lang="en-US" altLang="zh-TW" sz="1100" dirty="0" smtClean="0"/>
              <a:t>5</a:t>
            </a:r>
            <a:r>
              <a:rPr lang="zh-TW" altLang="zh-TW" sz="1100" dirty="0" smtClean="0"/>
              <a:t>年以前已全部死亡</a:t>
            </a:r>
            <a:r>
              <a:rPr lang="zh-TW" altLang="en-US" sz="1100" dirty="0" smtClean="0"/>
              <a:t>。</a:t>
            </a:r>
            <a:endParaRPr lang="zh-TW" altLang="zh-TW" sz="1100" dirty="0">
              <a:latin typeface="微軟正黑體" pitchFamily="34" charset="-120"/>
              <a:ea typeface="微軟正黑體" pitchFamily="34" charset="-120"/>
              <a:cs typeface="Helvetica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621"/>
            <a:ext cx="1522601" cy="71647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170256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-171400"/>
            <a:ext cx="8229600" cy="1143000"/>
          </a:xfrm>
        </p:spPr>
        <p:txBody>
          <a:bodyPr/>
          <a:lstStyle/>
          <a:p>
            <a:r>
              <a:rPr lang="zh-TW" altLang="en-US" sz="3200" dirty="0"/>
              <a:t>肺癌 </a:t>
            </a:r>
            <a:r>
              <a:rPr lang="en-US" altLang="zh-TW" sz="3200" dirty="0" smtClean="0"/>
              <a:t>-</a:t>
            </a:r>
            <a:r>
              <a:rPr lang="zh-TW" altLang="en-US" sz="3200" dirty="0" smtClean="0"/>
              <a:t>小</a:t>
            </a:r>
            <a:r>
              <a:rPr lang="zh-TW" altLang="en-US" sz="3200" dirty="0"/>
              <a:t>細胞</a:t>
            </a:r>
            <a:r>
              <a:rPr lang="zh-TW" altLang="en-US" sz="3200" dirty="0" smtClean="0"/>
              <a:t>癌存活率</a:t>
            </a:r>
            <a:endParaRPr lang="zh-TW" altLang="en-US" sz="32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CE20B-11F2-46A7-BE20-93932E3F43B4}" type="slidenum">
              <a:rPr lang="zh-TW" altLang="en-US" smtClean="0"/>
              <a:pPr>
                <a:defRPr/>
              </a:pPr>
              <a:t>13</a:t>
            </a:fld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607093104"/>
              </p:ext>
            </p:extLst>
          </p:nvPr>
        </p:nvGraphicFramePr>
        <p:xfrm>
          <a:off x="323530" y="767437"/>
          <a:ext cx="8496942" cy="3629689"/>
        </p:xfrm>
        <a:graphic>
          <a:graphicData uri="http://schemas.openxmlformats.org/drawingml/2006/table">
            <a:tbl>
              <a:tblPr/>
              <a:tblGrid>
                <a:gridCol w="677695"/>
                <a:gridCol w="740770"/>
                <a:gridCol w="740770"/>
                <a:gridCol w="2112569"/>
                <a:gridCol w="2112569"/>
                <a:gridCol w="2112569"/>
              </a:tblGrid>
              <a:tr h="276244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期別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0" dirty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2019-2023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存活率：</a:t>
                      </a:r>
                      <a:r>
                        <a:rPr lang="zh-TW" altLang="en-US" sz="1200" b="1" kern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台大雲林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與全國</a:t>
                      </a:r>
                      <a:r>
                        <a:rPr lang="zh-TW" altLang="en-US" sz="1200" b="1" kern="0" dirty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五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年存活率比較</a:t>
                      </a:r>
                      <a:r>
                        <a:rPr lang="en-US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</a:rPr>
                        <a:t>(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百分比</a:t>
                      </a:r>
                      <a:r>
                        <a:rPr lang="en-US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</a:rPr>
                        <a:t>)</a:t>
                      </a:r>
                      <a:endParaRPr lang="zh-TW" altLang="zh-TW" sz="1200" b="1" kern="100" dirty="0" smtClea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792090"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期別人數</a:t>
                      </a:r>
                      <a:endParaRPr lang="en-US" alt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死亡個數</a:t>
                      </a:r>
                      <a:endParaRPr lang="en-US" alt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本院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</a:t>
                      </a:r>
                      <a:r>
                        <a:rPr lang="en-US" altLang="zh-TW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(</a:t>
                      </a:r>
                      <a:r>
                        <a:rPr lang="zh-TW" altLang="en-US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觀察</a:t>
                      </a:r>
                      <a:r>
                        <a:rPr lang="en-US" altLang="zh-TW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)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存活率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%95 % CI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全國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%</a:t>
                      </a:r>
                      <a:b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</a:b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95 % CI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醫學中心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%</a:t>
                      </a:r>
                      <a:b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</a:b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95 % CI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7437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第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1</a:t>
                      </a:r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2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0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 smtClean="0">
                          <a:solidFill>
                            <a:srgbClr val="0033CC"/>
                          </a:solidFill>
                          <a:latin typeface="+mj-lt"/>
                        </a:rPr>
                        <a:t>-</a:t>
                      </a:r>
                      <a:endParaRPr lang="en-US" altLang="zh-TW" sz="1200" b="1" i="0" u="none" strike="noStrike" dirty="0">
                        <a:solidFill>
                          <a:srgbClr val="0033CC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39.45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42.86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310740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 smtClean="0">
                          <a:solidFill>
                            <a:srgbClr val="0033CC"/>
                          </a:solidFill>
                          <a:latin typeface="+mj-lt"/>
                        </a:rPr>
                        <a:t>-</a:t>
                      </a:r>
                      <a:endParaRPr lang="en-US" altLang="zh-TW" sz="1200" b="1" i="0" u="none" strike="noStrike" dirty="0">
                        <a:solidFill>
                          <a:srgbClr val="0033CC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新細明體"/>
                        </a:rPr>
                        <a:t>( 22.78 , 56.11 )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新細明體"/>
                        </a:rPr>
                        <a:t>( 25.22 , 60.49 )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937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第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2</a:t>
                      </a:r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2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 smtClean="0">
                          <a:solidFill>
                            <a:srgbClr val="0033CC"/>
                          </a:solidFill>
                          <a:latin typeface="+mj-lt"/>
                        </a:rPr>
                        <a:t>-</a:t>
                      </a:r>
                      <a:endParaRPr lang="en-US" altLang="zh-TW" sz="1200" b="1" i="0" u="none" strike="noStrike" dirty="0">
                        <a:solidFill>
                          <a:srgbClr val="0033CC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 smtClean="0">
                          <a:solidFill>
                            <a:srgbClr val="0033CC"/>
                          </a:solidFill>
                          <a:latin typeface="+mj-lt"/>
                        </a:rPr>
                        <a:t>-</a:t>
                      </a:r>
                      <a:endParaRPr lang="en-US" altLang="zh-TW" sz="1200" b="1" i="0" u="none" strike="noStrike" dirty="0">
                        <a:solidFill>
                          <a:srgbClr val="0033CC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 smtClean="0">
                          <a:solidFill>
                            <a:srgbClr val="0033CC"/>
                          </a:solidFill>
                          <a:latin typeface="+mj-lt"/>
                        </a:rPr>
                        <a:t>-</a:t>
                      </a:r>
                      <a:endParaRPr lang="en-US" altLang="zh-TW" sz="1200" b="1" i="0" u="none" strike="noStrike" dirty="0">
                        <a:solidFill>
                          <a:srgbClr val="0033CC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329373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 smtClean="0">
                          <a:solidFill>
                            <a:srgbClr val="0033CC"/>
                          </a:solidFill>
                          <a:latin typeface="+mj-lt"/>
                        </a:rPr>
                        <a:t>-</a:t>
                      </a:r>
                      <a:endParaRPr lang="en-US" altLang="zh-TW" sz="1200" b="1" i="0" u="none" strike="noStrike" dirty="0">
                        <a:solidFill>
                          <a:srgbClr val="0033CC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 smtClean="0">
                          <a:solidFill>
                            <a:srgbClr val="0033CC"/>
                          </a:solidFill>
                          <a:latin typeface="+mj-lt"/>
                        </a:rPr>
                        <a:t>-</a:t>
                      </a:r>
                      <a:endParaRPr lang="en-US" altLang="zh-TW" sz="1200" b="1" i="0" u="none" strike="noStrike" dirty="0">
                        <a:solidFill>
                          <a:srgbClr val="0033CC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 smtClean="0">
                          <a:solidFill>
                            <a:srgbClr val="0033CC"/>
                          </a:solidFill>
                          <a:latin typeface="+mj-lt"/>
                        </a:rPr>
                        <a:t>-</a:t>
                      </a:r>
                      <a:endParaRPr lang="en-US" altLang="zh-TW" sz="1200" b="1" i="0" u="none" strike="noStrike" dirty="0">
                        <a:solidFill>
                          <a:srgbClr val="0033CC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9373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en-US" sz="1200" b="1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第</a:t>
                      </a:r>
                      <a:r>
                        <a:rPr lang="en-US" altLang="zh-TW" sz="1200" b="1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3</a:t>
                      </a:r>
                      <a:r>
                        <a:rPr lang="zh-TW" altLang="en-US" sz="1200" b="1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期</a:t>
                      </a:r>
                      <a:endParaRPr lang="zh-TW" altLang="zh-TW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24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17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新細明體"/>
                        </a:rPr>
                        <a:t>29.17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14.94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新細明體"/>
                        </a:rPr>
                        <a:t>16.61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329373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新細明體"/>
                        </a:rPr>
                        <a:t>( 10.98 , 47.35 )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( 9.54 , 20.33 )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新細明體"/>
                        </a:rPr>
                        <a:t>( 10.05 , 23.16 )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9373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en-US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第</a:t>
                      </a:r>
                      <a:r>
                        <a:rPr lang="en-US" altLang="zh-TW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4</a:t>
                      </a:r>
                      <a:r>
                        <a:rPr lang="zh-TW" altLang="en-US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期</a:t>
                      </a:r>
                      <a:endParaRPr lang="zh-TW" altLang="zh-TW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66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60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新細明體"/>
                        </a:rPr>
                        <a:t>7.95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3.35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新細明體"/>
                        </a:rPr>
                        <a:t>3.98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9373">
                <a:tc vMerge="1"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lang="en-US" altLang="zh-TW" sz="1200" b="1" kern="1200" dirty="0" smtClean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新細明體"/>
                        </a:rPr>
                        <a:t>( 0.79 , 15.12 )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( 1.06 , 5.64 )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新細明體"/>
                        </a:rPr>
                        <a:t>( 0.87 , 7.08 )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323528" y="4725144"/>
            <a:ext cx="78488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</a:rPr>
              <a:t>(1)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藍字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</a:rPr>
              <a:t>: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代表某</a:t>
            </a:r>
            <a:r>
              <a:rPr lang="zh-TW" altLang="en-US" sz="1100" dirty="0" smtClean="0"/>
              <a:t>年齡層未滿</a:t>
            </a:r>
            <a:r>
              <a:rPr lang="en-US" altLang="zh-TW" sz="1100" dirty="0" smtClean="0"/>
              <a:t>10</a:t>
            </a:r>
            <a:r>
              <a:rPr lang="zh-TW" altLang="en-US" sz="1100" dirty="0" smtClean="0"/>
              <a:t>人，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無法進行年齡標準化調整，故改呈現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觀察存活率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及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95 </a:t>
            </a:r>
            <a:r>
              <a:rPr lang="en-US" altLang="zh-TW" sz="1100" dirty="0">
                <a:latin typeface="微軟正黑體" pitchFamily="34" charset="-120"/>
                <a:ea typeface="微軟正黑體" pitchFamily="34" charset="-120"/>
                <a:cs typeface="Helvetica"/>
              </a:rPr>
              <a:t>% 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CI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。</a:t>
            </a:r>
            <a:endParaRPr lang="en-US" altLang="zh-TW" sz="1100" dirty="0" smtClean="0">
              <a:latin typeface="微軟正黑體" pitchFamily="34" charset="-120"/>
              <a:ea typeface="微軟正黑體" pitchFamily="34" charset="-120"/>
              <a:cs typeface="Helvetica"/>
            </a:endParaRPr>
          </a:p>
          <a:p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(2) 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存活率為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”-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  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”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，代表</a:t>
            </a:r>
            <a:r>
              <a:rPr lang="zh-TW" altLang="zh-TW" sz="1100" dirty="0" smtClean="0"/>
              <a:t>無個案數可追蹤至第</a:t>
            </a:r>
            <a:r>
              <a:rPr lang="en-US" altLang="zh-TW" sz="1100" dirty="0" smtClean="0"/>
              <a:t>5</a:t>
            </a:r>
            <a:r>
              <a:rPr lang="zh-TW" altLang="zh-TW" sz="1100" dirty="0" smtClean="0"/>
              <a:t>年以求得存活率</a:t>
            </a:r>
            <a:r>
              <a:rPr lang="en-US" altLang="zh-TW" sz="1100" dirty="0" smtClean="0"/>
              <a:t>,</a:t>
            </a:r>
            <a:r>
              <a:rPr lang="zh-TW" altLang="en-US" sz="1100" dirty="0" smtClean="0"/>
              <a:t>或是</a:t>
            </a:r>
            <a:r>
              <a:rPr lang="zh-TW" altLang="zh-TW" sz="1100" dirty="0" smtClean="0"/>
              <a:t>所有個案於第</a:t>
            </a:r>
            <a:r>
              <a:rPr lang="en-US" altLang="zh-TW" sz="1100" dirty="0" smtClean="0"/>
              <a:t>5</a:t>
            </a:r>
            <a:r>
              <a:rPr lang="zh-TW" altLang="zh-TW" sz="1100" dirty="0" smtClean="0"/>
              <a:t>年以前已全部死亡</a:t>
            </a:r>
            <a:r>
              <a:rPr lang="zh-TW" altLang="en-US" sz="1100" dirty="0" smtClean="0"/>
              <a:t>。</a:t>
            </a:r>
            <a:endParaRPr lang="zh-TW" altLang="zh-TW" sz="1100" dirty="0">
              <a:latin typeface="微軟正黑體" pitchFamily="34" charset="-120"/>
              <a:ea typeface="微軟正黑體" pitchFamily="34" charset="-120"/>
              <a:cs typeface="Helvetica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621"/>
            <a:ext cx="1522601" cy="71647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170256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6" y="-171400"/>
            <a:ext cx="8229600" cy="1143000"/>
          </a:xfrm>
        </p:spPr>
        <p:txBody>
          <a:bodyPr/>
          <a:lstStyle/>
          <a:p>
            <a:r>
              <a:rPr lang="zh-TW" altLang="en-US" sz="3200" smtClean="0"/>
              <a:t>食道癌存活率</a:t>
            </a:r>
            <a:endParaRPr lang="zh-TW" altLang="en-US" sz="32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CE20B-11F2-46A7-BE20-93932E3F43B4}" type="slidenum">
              <a:rPr lang="zh-TW" altLang="en-US" smtClean="0"/>
              <a:pPr>
                <a:defRPr/>
              </a:pPr>
              <a:t>14</a:t>
            </a:fld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179512" y="6165304"/>
            <a:ext cx="78488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</a:rPr>
              <a:t>(1)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藍字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</a:rPr>
              <a:t>: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代表某</a:t>
            </a:r>
            <a:r>
              <a:rPr lang="zh-TW" altLang="en-US" sz="1100" dirty="0" smtClean="0"/>
              <a:t>年齡層未滿</a:t>
            </a:r>
            <a:r>
              <a:rPr lang="en-US" altLang="zh-TW" sz="1100" dirty="0" smtClean="0"/>
              <a:t>10</a:t>
            </a:r>
            <a:r>
              <a:rPr lang="zh-TW" altLang="en-US" sz="1100" dirty="0" smtClean="0"/>
              <a:t>人，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無法進行年齡標準化調整，故改呈現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觀察存活率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及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95 </a:t>
            </a:r>
            <a:r>
              <a:rPr lang="en-US" altLang="zh-TW" sz="1100" dirty="0">
                <a:latin typeface="微軟正黑體" pitchFamily="34" charset="-120"/>
                <a:ea typeface="微軟正黑體" pitchFamily="34" charset="-120"/>
                <a:cs typeface="Helvetica"/>
              </a:rPr>
              <a:t>% 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CI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。</a:t>
            </a:r>
            <a:endParaRPr lang="en-US" altLang="zh-TW" sz="1100" dirty="0" smtClean="0">
              <a:latin typeface="微軟正黑體" pitchFamily="34" charset="-120"/>
              <a:ea typeface="微軟正黑體" pitchFamily="34" charset="-120"/>
              <a:cs typeface="Helvetica"/>
            </a:endParaRPr>
          </a:p>
          <a:p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(2) 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存活率為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”-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  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”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，代表</a:t>
            </a:r>
            <a:r>
              <a:rPr lang="zh-TW" altLang="zh-TW" sz="1100" dirty="0" smtClean="0"/>
              <a:t>無個案數可追蹤至第</a:t>
            </a:r>
            <a:r>
              <a:rPr lang="en-US" altLang="zh-TW" sz="1100" dirty="0" smtClean="0"/>
              <a:t>5</a:t>
            </a:r>
            <a:r>
              <a:rPr lang="zh-TW" altLang="zh-TW" sz="1100" dirty="0" smtClean="0"/>
              <a:t>年以求得存活率</a:t>
            </a:r>
            <a:r>
              <a:rPr lang="en-US" altLang="zh-TW" sz="1100" dirty="0" smtClean="0"/>
              <a:t>,</a:t>
            </a:r>
            <a:r>
              <a:rPr lang="zh-TW" altLang="en-US" sz="1100" dirty="0" smtClean="0"/>
              <a:t>或是</a:t>
            </a:r>
            <a:r>
              <a:rPr lang="zh-TW" altLang="zh-TW" sz="1100" dirty="0" smtClean="0"/>
              <a:t>所有個案於第</a:t>
            </a:r>
            <a:r>
              <a:rPr lang="en-US" altLang="zh-TW" sz="1100" dirty="0" smtClean="0"/>
              <a:t>5</a:t>
            </a:r>
            <a:r>
              <a:rPr lang="zh-TW" altLang="zh-TW" sz="1100" dirty="0" smtClean="0"/>
              <a:t>年以前已全部死亡</a:t>
            </a:r>
            <a:r>
              <a:rPr lang="zh-TW" altLang="en-US" sz="1100" dirty="0" smtClean="0"/>
              <a:t>。</a:t>
            </a:r>
            <a:endParaRPr lang="zh-TW" altLang="zh-TW" sz="1100" dirty="0">
              <a:latin typeface="微軟正黑體" pitchFamily="34" charset="-120"/>
              <a:ea typeface="微軟正黑體" pitchFamily="34" charset="-120"/>
              <a:cs typeface="Helvetica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437065753"/>
              </p:ext>
            </p:extLst>
          </p:nvPr>
        </p:nvGraphicFramePr>
        <p:xfrm>
          <a:off x="179510" y="767436"/>
          <a:ext cx="8712971" cy="5253849"/>
        </p:xfrm>
        <a:graphic>
          <a:graphicData uri="http://schemas.openxmlformats.org/drawingml/2006/table">
            <a:tbl>
              <a:tblPr/>
              <a:tblGrid>
                <a:gridCol w="694925"/>
                <a:gridCol w="759603"/>
                <a:gridCol w="759603"/>
                <a:gridCol w="2166280"/>
                <a:gridCol w="2166280"/>
                <a:gridCol w="2166280"/>
              </a:tblGrid>
              <a:tr h="397813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期別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0" dirty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2019-2023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存活率：</a:t>
                      </a:r>
                      <a:r>
                        <a:rPr lang="zh-TW" altLang="en-US" sz="1200" b="1" kern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台大雲林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與全國</a:t>
                      </a:r>
                      <a:r>
                        <a:rPr lang="zh-TW" altLang="en-US" sz="1200" b="1" kern="0" dirty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五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年存活率比較</a:t>
                      </a:r>
                      <a:r>
                        <a:rPr lang="en-US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</a:rPr>
                        <a:t>(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百分比</a:t>
                      </a:r>
                      <a:r>
                        <a:rPr lang="en-US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</a:rPr>
                        <a:t>)</a:t>
                      </a:r>
                      <a:endParaRPr lang="zh-TW" altLang="zh-TW" sz="1200" b="1" kern="100" dirty="0" smtClea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140666"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期別人數</a:t>
                      </a:r>
                      <a:endParaRPr lang="en-US" alt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死亡個數</a:t>
                      </a:r>
                      <a:endParaRPr lang="en-US" alt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本院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</a:t>
                      </a:r>
                      <a:r>
                        <a:rPr lang="en-US" altLang="zh-TW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(</a:t>
                      </a:r>
                      <a:r>
                        <a:rPr lang="zh-TW" altLang="en-US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觀察</a:t>
                      </a:r>
                      <a:r>
                        <a:rPr lang="en-US" altLang="zh-TW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)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存活率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%95 % CI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全國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%</a:t>
                      </a:r>
                      <a:b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</a:b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95 % CI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醫學中心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%</a:t>
                      </a:r>
                      <a:b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</a:b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95 % CI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9512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第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1</a:t>
                      </a:r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4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54.53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55.08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-</a:t>
                      </a:r>
                      <a:r>
                        <a:rPr lang="zh-TW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( 47.64 , 61.42 )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( 46.84 , 63.32 )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43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第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2</a:t>
                      </a:r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20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11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39.98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33.65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35.72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( 16.71 , 63.25 )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( 27.63 , 39.67 )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( 27.46 , 43.98 )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4321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en-US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第</a:t>
                      </a:r>
                      <a:r>
                        <a:rPr lang="en-US" altLang="zh-TW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3</a:t>
                      </a:r>
                      <a:r>
                        <a:rPr lang="zh-TW" altLang="en-US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期</a:t>
                      </a:r>
                      <a:endParaRPr lang="zh-TW" altLang="zh-TW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33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25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21.89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26.57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29.97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( 7.10 , 36.67 )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( 22.88 , 30.26 )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( 25.21 , 34.72 )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4321">
                <a:tc rowSpan="2"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第</a:t>
                      </a: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4</a:t>
                      </a: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</a:t>
                      </a:r>
                      <a:endParaRPr lang="en-US" altLang="zh-TW" sz="1200" b="1" kern="1200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85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71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14.49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10.20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11.28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( 6.40 , 22.59 )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( 8.13 , 12.27 )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( 8.52 , 14.04 )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7" name="圖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621"/>
            <a:ext cx="1522601" cy="71647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909260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6" y="-171400"/>
            <a:ext cx="8229600" cy="1143000"/>
          </a:xfrm>
        </p:spPr>
        <p:txBody>
          <a:bodyPr/>
          <a:lstStyle/>
          <a:p>
            <a:r>
              <a:rPr lang="zh-TW" altLang="en-US" sz="3200"/>
              <a:t>肝癌</a:t>
            </a:r>
            <a:r>
              <a:rPr lang="en-US" altLang="zh-TW" sz="3200"/>
              <a:t>BCLC</a:t>
            </a:r>
            <a:r>
              <a:rPr lang="zh-TW" altLang="en-US" sz="3200" smtClean="0"/>
              <a:t>分期存活率</a:t>
            </a:r>
            <a:endParaRPr lang="zh-TW" altLang="en-US" sz="32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CE20B-11F2-46A7-BE20-93932E3F43B4}" type="slidenum">
              <a:rPr lang="zh-TW" altLang="en-US" smtClean="0"/>
              <a:pPr>
                <a:defRPr/>
              </a:pPr>
              <a:t>15</a:t>
            </a:fld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20862029"/>
              </p:ext>
            </p:extLst>
          </p:nvPr>
        </p:nvGraphicFramePr>
        <p:xfrm>
          <a:off x="179510" y="767436"/>
          <a:ext cx="8640962" cy="5253849"/>
        </p:xfrm>
        <a:graphic>
          <a:graphicData uri="http://schemas.openxmlformats.org/drawingml/2006/table">
            <a:tbl>
              <a:tblPr/>
              <a:tblGrid>
                <a:gridCol w="689182"/>
                <a:gridCol w="753326"/>
                <a:gridCol w="753326"/>
                <a:gridCol w="2148376"/>
                <a:gridCol w="2148376"/>
                <a:gridCol w="2148376"/>
              </a:tblGrid>
              <a:tr h="397813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期別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0" dirty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2019-2023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存活率：</a:t>
                      </a:r>
                      <a:r>
                        <a:rPr lang="zh-TW" altLang="en-US" sz="1200" b="1" kern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台大雲林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與全國</a:t>
                      </a:r>
                      <a:r>
                        <a:rPr lang="zh-TW" altLang="en-US" sz="1200" b="1" kern="0" dirty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五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年存活率比較</a:t>
                      </a:r>
                      <a:r>
                        <a:rPr lang="en-US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</a:rPr>
                        <a:t>(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百分比</a:t>
                      </a:r>
                      <a:r>
                        <a:rPr lang="en-US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</a:rPr>
                        <a:t>)</a:t>
                      </a:r>
                      <a:endParaRPr lang="zh-TW" altLang="zh-TW" sz="1200" b="1" kern="100" dirty="0" smtClea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140666"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期別人數</a:t>
                      </a:r>
                      <a:endParaRPr lang="en-US" alt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死亡個數</a:t>
                      </a:r>
                      <a:endParaRPr lang="en-US" alt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本院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</a:t>
                      </a:r>
                      <a:r>
                        <a:rPr lang="en-US" altLang="zh-TW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(</a:t>
                      </a:r>
                      <a:r>
                        <a:rPr lang="zh-TW" altLang="en-US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觀察</a:t>
                      </a:r>
                      <a:r>
                        <a:rPr lang="en-US" altLang="zh-TW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)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存活率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%95 % CI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全國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%</a:t>
                      </a:r>
                      <a:b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</a:b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95 % CI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醫學中心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%</a:t>
                      </a:r>
                      <a:b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</a:b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95 % CI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9512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第</a:t>
                      </a:r>
                      <a:r>
                        <a:rPr lang="en-US" altLang="zh-TW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0+A</a:t>
                      </a:r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256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78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63.39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66.65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68.39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( 51.51 , 75.27 )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( 64.83 , 68.46 )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( 66.12 , 70.66 )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43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第</a:t>
                      </a:r>
                      <a:r>
                        <a:rPr lang="en-US" altLang="zh-TW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B</a:t>
                      </a:r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95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49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42.71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39.09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41.36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( 21.38 , 64.04 )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( 36.45 , 41.73 )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( 38.08 , 44.64 )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4321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en-US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第</a:t>
                      </a:r>
                      <a:r>
                        <a:rPr lang="en-US" altLang="zh-TW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C</a:t>
                      </a:r>
                      <a:r>
                        <a:rPr lang="zh-TW" altLang="en-US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期</a:t>
                      </a:r>
                      <a:endParaRPr lang="zh-TW" altLang="zh-TW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147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132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9.27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10.66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11.91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( 0.00 , 18.80 )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( 9.19 , 12.14 )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( 10.00 , 13.83 )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4321">
                <a:tc rowSpan="2"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第</a:t>
                      </a: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D</a:t>
                      </a: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</a:t>
                      </a:r>
                      <a:endParaRPr lang="en-US" altLang="zh-TW" sz="1200" b="1" kern="1200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45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44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-</a:t>
                      </a:r>
                    </a:p>
                    <a:p>
                      <a:pPr algn="ctr"/>
                      <a:r>
                        <a:rPr lang="en-US" altLang="zh-TW" sz="1200" b="1" dirty="0" smtClean="0">
                          <a:latin typeface="+mj-lt"/>
                        </a:rPr>
                        <a:t>-</a:t>
                      </a:r>
                      <a:endParaRPr lang="zh-TW" altLang="en-US" sz="1200" b="1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4.63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6.01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( 2.56 , 6.70 )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( 2.95 , 9.07 )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179512" y="6165304"/>
            <a:ext cx="78488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</a:rPr>
              <a:t>(1)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藍字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</a:rPr>
              <a:t>: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代表某</a:t>
            </a:r>
            <a:r>
              <a:rPr lang="zh-TW" altLang="en-US" sz="1100" dirty="0" smtClean="0"/>
              <a:t>年齡層未滿</a:t>
            </a:r>
            <a:r>
              <a:rPr lang="en-US" altLang="zh-TW" sz="1100" dirty="0" smtClean="0"/>
              <a:t>10</a:t>
            </a:r>
            <a:r>
              <a:rPr lang="zh-TW" altLang="en-US" sz="1100" dirty="0" smtClean="0"/>
              <a:t>人，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無法進行年齡標準化調整，故改呈現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觀察存活率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及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95 </a:t>
            </a:r>
            <a:r>
              <a:rPr lang="en-US" altLang="zh-TW" sz="1100" dirty="0">
                <a:latin typeface="微軟正黑體" pitchFamily="34" charset="-120"/>
                <a:ea typeface="微軟正黑體" pitchFamily="34" charset="-120"/>
                <a:cs typeface="Helvetica"/>
              </a:rPr>
              <a:t>% 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CI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。</a:t>
            </a:r>
            <a:endParaRPr lang="en-US" altLang="zh-TW" sz="1100" dirty="0" smtClean="0">
              <a:latin typeface="微軟正黑體" pitchFamily="34" charset="-120"/>
              <a:ea typeface="微軟正黑體" pitchFamily="34" charset="-120"/>
              <a:cs typeface="Helvetica"/>
            </a:endParaRPr>
          </a:p>
          <a:p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(2) 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存活率為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”-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  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”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，代表</a:t>
            </a:r>
            <a:r>
              <a:rPr lang="zh-TW" altLang="zh-TW" sz="1100" dirty="0" smtClean="0"/>
              <a:t>無個案數可追蹤至第</a:t>
            </a:r>
            <a:r>
              <a:rPr lang="en-US" altLang="zh-TW" sz="1100" dirty="0" smtClean="0"/>
              <a:t>5</a:t>
            </a:r>
            <a:r>
              <a:rPr lang="zh-TW" altLang="zh-TW" sz="1100" dirty="0" smtClean="0"/>
              <a:t>年以求得存活率</a:t>
            </a:r>
            <a:r>
              <a:rPr lang="en-US" altLang="zh-TW" sz="1100" dirty="0" smtClean="0"/>
              <a:t>,</a:t>
            </a:r>
            <a:r>
              <a:rPr lang="zh-TW" altLang="en-US" sz="1100" dirty="0" smtClean="0"/>
              <a:t>或是</a:t>
            </a:r>
            <a:r>
              <a:rPr lang="zh-TW" altLang="zh-TW" sz="1100" dirty="0" smtClean="0"/>
              <a:t>所有個案於第</a:t>
            </a:r>
            <a:r>
              <a:rPr lang="en-US" altLang="zh-TW" sz="1100" dirty="0" smtClean="0"/>
              <a:t>5</a:t>
            </a:r>
            <a:r>
              <a:rPr lang="zh-TW" altLang="zh-TW" sz="1100" dirty="0" smtClean="0"/>
              <a:t>年以前已全部死亡</a:t>
            </a:r>
            <a:r>
              <a:rPr lang="zh-TW" altLang="en-US" sz="1100" dirty="0" smtClean="0"/>
              <a:t>。</a:t>
            </a:r>
            <a:endParaRPr lang="zh-TW" altLang="zh-TW" sz="1100" dirty="0">
              <a:latin typeface="微軟正黑體" pitchFamily="34" charset="-120"/>
              <a:ea typeface="微軟正黑體" pitchFamily="34" charset="-120"/>
              <a:cs typeface="Helvetica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621"/>
            <a:ext cx="1522601" cy="71647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689887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6" y="-171400"/>
            <a:ext cx="8229600" cy="1143000"/>
          </a:xfrm>
        </p:spPr>
        <p:txBody>
          <a:bodyPr/>
          <a:lstStyle/>
          <a:p>
            <a:r>
              <a:rPr lang="zh-TW" altLang="en-US" sz="3200" smtClean="0"/>
              <a:t>胃癌存活率</a:t>
            </a:r>
            <a:endParaRPr lang="zh-TW" altLang="en-US" sz="32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CE20B-11F2-46A7-BE20-93932E3F43B4}" type="slidenum">
              <a:rPr lang="zh-TW" altLang="en-US" smtClean="0"/>
              <a:pPr>
                <a:defRPr/>
              </a:pPr>
              <a:t>16</a:t>
            </a:fld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301072748"/>
              </p:ext>
            </p:extLst>
          </p:nvPr>
        </p:nvGraphicFramePr>
        <p:xfrm>
          <a:off x="179510" y="767436"/>
          <a:ext cx="8640962" cy="5253849"/>
        </p:xfrm>
        <a:graphic>
          <a:graphicData uri="http://schemas.openxmlformats.org/drawingml/2006/table">
            <a:tbl>
              <a:tblPr/>
              <a:tblGrid>
                <a:gridCol w="689182"/>
                <a:gridCol w="753326"/>
                <a:gridCol w="753326"/>
                <a:gridCol w="2148376"/>
                <a:gridCol w="2148376"/>
                <a:gridCol w="2148376"/>
              </a:tblGrid>
              <a:tr h="397813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期別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0" dirty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2019-2023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存活率：</a:t>
                      </a:r>
                      <a:r>
                        <a:rPr lang="zh-TW" altLang="en-US" sz="1200" b="1" kern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台大雲林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與全國</a:t>
                      </a:r>
                      <a:r>
                        <a:rPr lang="zh-TW" altLang="en-US" sz="1200" b="1" kern="0" dirty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五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年存活率比較</a:t>
                      </a:r>
                      <a:r>
                        <a:rPr lang="en-US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</a:rPr>
                        <a:t>(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百分比</a:t>
                      </a:r>
                      <a:r>
                        <a:rPr lang="en-US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</a:rPr>
                        <a:t>)</a:t>
                      </a:r>
                      <a:endParaRPr lang="zh-TW" altLang="zh-TW" sz="1200" b="1" kern="100" dirty="0" smtClea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140666"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期別人數</a:t>
                      </a:r>
                      <a:endParaRPr lang="en-US" alt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死亡個數</a:t>
                      </a:r>
                      <a:endParaRPr lang="en-US" alt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本院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</a:t>
                      </a:r>
                      <a:r>
                        <a:rPr lang="en-US" altLang="zh-TW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(</a:t>
                      </a:r>
                      <a:r>
                        <a:rPr lang="zh-TW" altLang="en-US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觀察</a:t>
                      </a:r>
                      <a:r>
                        <a:rPr lang="en-US" altLang="zh-TW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)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存活率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%95 % CI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全國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%</a:t>
                      </a:r>
                      <a:b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</a:b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95 % CI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醫學中心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%</a:t>
                      </a:r>
                      <a:b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</a:b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95 % CI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9512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第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1</a:t>
                      </a:r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19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4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56.14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72.14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74.46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( 9.91 , 100.00 )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( 68.72 , 75.57 )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( 70.19 , 78.74 )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43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第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2</a:t>
                      </a:r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16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7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50.00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55.01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57.40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( 21.01 , 78.99 )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( 49.79 , 60.23 )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( 50.88 , 63.92 )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4321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en-US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第</a:t>
                      </a:r>
                      <a:r>
                        <a:rPr lang="en-US" altLang="zh-TW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3</a:t>
                      </a:r>
                      <a:r>
                        <a:rPr lang="zh-TW" altLang="en-US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期</a:t>
                      </a:r>
                      <a:endParaRPr lang="zh-TW" altLang="zh-TW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24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17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 smtClean="0">
                          <a:latin typeface="+mj-lt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30.28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33.21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120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-</a:t>
                      </a:r>
                    </a:p>
                    <a:p>
                      <a:pPr algn="ctr"/>
                      <a:endParaRPr lang="zh-TW" altLang="en-US" sz="1200" b="1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( 26.26 , 34.30 )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( 28.00 , 38.41 )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4321">
                <a:tc rowSpan="2"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第</a:t>
                      </a: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4</a:t>
                      </a: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</a:t>
                      </a:r>
                      <a:endParaRPr lang="en-US" altLang="zh-TW" sz="1200" b="1" kern="1200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32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32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dirty="0" smtClean="0">
                          <a:latin typeface="+mj-lt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3.90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4.03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120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-</a:t>
                      </a:r>
                    </a:p>
                    <a:p>
                      <a:pPr algn="ctr"/>
                      <a:endParaRPr lang="zh-TW" altLang="en-US" sz="1200" b="1" dirty="0">
                        <a:latin typeface="+mj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( 2.49 , 5.31 )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( 2.21 , 5.85 )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179512" y="6165304"/>
            <a:ext cx="78488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</a:rPr>
              <a:t>(1)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藍字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</a:rPr>
              <a:t>: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代表某</a:t>
            </a:r>
            <a:r>
              <a:rPr lang="zh-TW" altLang="en-US" sz="1100" dirty="0" smtClean="0"/>
              <a:t>年齡層未滿</a:t>
            </a:r>
            <a:r>
              <a:rPr lang="en-US" altLang="zh-TW" sz="1100" dirty="0" smtClean="0"/>
              <a:t>10</a:t>
            </a:r>
            <a:r>
              <a:rPr lang="zh-TW" altLang="en-US" sz="1100" dirty="0" smtClean="0"/>
              <a:t>人，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無法進行年齡標準化調整，故改呈現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觀察存活率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及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95 </a:t>
            </a:r>
            <a:r>
              <a:rPr lang="en-US" altLang="zh-TW" sz="1100" dirty="0">
                <a:latin typeface="微軟正黑體" pitchFamily="34" charset="-120"/>
                <a:ea typeface="微軟正黑體" pitchFamily="34" charset="-120"/>
                <a:cs typeface="Helvetica"/>
              </a:rPr>
              <a:t>% 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CI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。</a:t>
            </a:r>
            <a:endParaRPr lang="en-US" altLang="zh-TW" sz="1100" dirty="0" smtClean="0">
              <a:latin typeface="微軟正黑體" pitchFamily="34" charset="-120"/>
              <a:ea typeface="微軟正黑體" pitchFamily="34" charset="-120"/>
              <a:cs typeface="Helvetica"/>
            </a:endParaRPr>
          </a:p>
          <a:p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(2) 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存活率為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”-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  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”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，代表</a:t>
            </a:r>
            <a:r>
              <a:rPr lang="zh-TW" altLang="zh-TW" sz="1100" dirty="0" smtClean="0"/>
              <a:t>無個案數可追蹤至第</a:t>
            </a:r>
            <a:r>
              <a:rPr lang="en-US" altLang="zh-TW" sz="1100" dirty="0" smtClean="0"/>
              <a:t>5</a:t>
            </a:r>
            <a:r>
              <a:rPr lang="zh-TW" altLang="zh-TW" sz="1100" dirty="0" smtClean="0"/>
              <a:t>年以求得存活率</a:t>
            </a:r>
            <a:r>
              <a:rPr lang="en-US" altLang="zh-TW" sz="1100" dirty="0" smtClean="0"/>
              <a:t>,</a:t>
            </a:r>
            <a:r>
              <a:rPr lang="zh-TW" altLang="en-US" sz="1100" dirty="0" smtClean="0"/>
              <a:t>或是</a:t>
            </a:r>
            <a:r>
              <a:rPr lang="zh-TW" altLang="zh-TW" sz="1100" dirty="0" smtClean="0"/>
              <a:t>所有個案於第</a:t>
            </a:r>
            <a:r>
              <a:rPr lang="en-US" altLang="zh-TW" sz="1100" dirty="0" smtClean="0"/>
              <a:t>5</a:t>
            </a:r>
            <a:r>
              <a:rPr lang="zh-TW" altLang="zh-TW" sz="1100" dirty="0" smtClean="0"/>
              <a:t>年以前已全部死亡</a:t>
            </a:r>
            <a:r>
              <a:rPr lang="zh-TW" altLang="en-US" sz="1100" dirty="0" smtClean="0"/>
              <a:t>。</a:t>
            </a:r>
            <a:endParaRPr lang="zh-TW" altLang="zh-TW" sz="1100" dirty="0">
              <a:latin typeface="微軟正黑體" pitchFamily="34" charset="-120"/>
              <a:ea typeface="微軟正黑體" pitchFamily="34" charset="-120"/>
              <a:cs typeface="Helvetica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621"/>
            <a:ext cx="1522601" cy="71647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689887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6" y="-171400"/>
            <a:ext cx="8229600" cy="864096"/>
          </a:xfrm>
        </p:spPr>
        <p:txBody>
          <a:bodyPr/>
          <a:lstStyle/>
          <a:p>
            <a:r>
              <a:rPr lang="zh-TW" altLang="en-US" sz="3200" dirty="0" smtClean="0"/>
              <a:t>鼻咽癌存活率</a:t>
            </a:r>
            <a:endParaRPr lang="zh-TW" altLang="en-US" sz="32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CE20B-11F2-46A7-BE20-93932E3F43B4}" type="slidenum">
              <a:rPr lang="zh-TW" altLang="en-US" smtClean="0"/>
              <a:pPr>
                <a:defRPr/>
              </a:pPr>
              <a:t>17</a:t>
            </a:fld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371945493"/>
              </p:ext>
            </p:extLst>
          </p:nvPr>
        </p:nvGraphicFramePr>
        <p:xfrm>
          <a:off x="251522" y="620688"/>
          <a:ext cx="8640959" cy="5829913"/>
        </p:xfrm>
        <a:graphic>
          <a:graphicData uri="http://schemas.openxmlformats.org/drawingml/2006/table">
            <a:tbl>
              <a:tblPr/>
              <a:tblGrid>
                <a:gridCol w="689181"/>
                <a:gridCol w="753325"/>
                <a:gridCol w="753325"/>
                <a:gridCol w="2148376"/>
                <a:gridCol w="2148376"/>
                <a:gridCol w="2148376"/>
              </a:tblGrid>
              <a:tr h="324314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期別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0" dirty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2019-2023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存活率：</a:t>
                      </a:r>
                      <a:r>
                        <a:rPr lang="zh-TW" altLang="en-US" sz="1200" b="1" kern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台大雲林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與全國</a:t>
                      </a:r>
                      <a:r>
                        <a:rPr lang="zh-TW" altLang="en-US" sz="1200" b="1" kern="0" dirty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五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年存活率比較</a:t>
                      </a:r>
                      <a:r>
                        <a:rPr lang="en-US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</a:rPr>
                        <a:t>(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百分比</a:t>
                      </a:r>
                      <a:r>
                        <a:rPr lang="en-US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</a:rPr>
                        <a:t>)</a:t>
                      </a:r>
                      <a:endParaRPr lang="zh-TW" altLang="zh-TW" sz="1200" b="1" kern="100" dirty="0" smtClea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929921"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期別人數</a:t>
                      </a:r>
                      <a:endParaRPr lang="en-US" alt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死亡個數</a:t>
                      </a:r>
                      <a:endParaRPr lang="en-US" alt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本院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</a:t>
                      </a:r>
                      <a:r>
                        <a:rPr lang="en-US" altLang="zh-TW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(</a:t>
                      </a:r>
                      <a:r>
                        <a:rPr lang="zh-TW" altLang="en-US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觀察</a:t>
                      </a:r>
                      <a:r>
                        <a:rPr lang="en-US" altLang="zh-TW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)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存活率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%95 % CI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全國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%</a:t>
                      </a:r>
                      <a:b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</a:b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95 % CI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醫學中心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%</a:t>
                      </a:r>
                      <a:b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</a:b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95 % CI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2121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第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1</a:t>
                      </a: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4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0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100.00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92.74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92.99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386687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( 100.00 , 100.00 )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( 88.18 , 97.29 )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( 87.41 , 98.56 )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6687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第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2</a:t>
                      </a: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14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92.86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87.90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89.28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386687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( 79.37 , 100.00 )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( 83.89 , 91.90 )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( 84.65 , 93.91 )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6687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第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3</a:t>
                      </a: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25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5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77.82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83.27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86.17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386687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( 60.21 , 95.43 )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( 79.45 , 87.08 )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( 81.91 , 90.43 )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6687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第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4</a:t>
                      </a: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23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9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58.98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60.56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62.06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386687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lang="zh-TW" altLang="zh-TW" sz="1100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( 38.12 , 79.85 )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( 56.27 , 64.84 )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( 57.01 , 67.11 )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6687"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第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4M0</a:t>
                      </a: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18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7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59.58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69.35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71.29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6687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( 36.21 , 82.96 )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( 64.65 , 74.05 )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( 65.83 , 76.75 )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6687"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en-US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第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4M1</a:t>
                      </a:r>
                      <a:r>
                        <a:rPr lang="zh-TW" altLang="en-US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期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5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2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i="0" u="none" strike="noStrike" kern="1200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-</a:t>
                      </a:r>
                    </a:p>
                    <a:p>
                      <a:pPr algn="ctr"/>
                      <a:endParaRPr lang="zh-TW" altLang="en-US" sz="1200" b="1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92.74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92.99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6687">
                <a:tc vMerge="1">
                  <a:txBody>
                    <a:bodyPr/>
                    <a:lstStyle/>
                    <a:p>
                      <a:pPr algn="l" fontAlgn="ctr"/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( 88.18 , 97.29 )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( 87.41 , 98.56 )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0" y="6427113"/>
            <a:ext cx="78488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</a:rPr>
              <a:t>(1)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藍字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</a:rPr>
              <a:t>: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代表某</a:t>
            </a:r>
            <a:r>
              <a:rPr lang="zh-TW" altLang="en-US" sz="1100" dirty="0" smtClean="0"/>
              <a:t>年齡層未滿</a:t>
            </a:r>
            <a:r>
              <a:rPr lang="en-US" altLang="zh-TW" sz="1100" dirty="0" smtClean="0"/>
              <a:t>10</a:t>
            </a:r>
            <a:r>
              <a:rPr lang="zh-TW" altLang="en-US" sz="1100" dirty="0" smtClean="0"/>
              <a:t>人，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無法進行年齡標準化調整，故改呈現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觀察存活率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及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95 </a:t>
            </a:r>
            <a:r>
              <a:rPr lang="en-US" altLang="zh-TW" sz="1100" dirty="0">
                <a:latin typeface="微軟正黑體" pitchFamily="34" charset="-120"/>
                <a:ea typeface="微軟正黑體" pitchFamily="34" charset="-120"/>
                <a:cs typeface="Helvetica"/>
              </a:rPr>
              <a:t>% 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CI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。</a:t>
            </a:r>
            <a:endParaRPr lang="en-US" altLang="zh-TW" sz="1100" dirty="0" smtClean="0">
              <a:latin typeface="微軟正黑體" pitchFamily="34" charset="-120"/>
              <a:ea typeface="微軟正黑體" pitchFamily="34" charset="-120"/>
              <a:cs typeface="Helvetica"/>
            </a:endParaRPr>
          </a:p>
          <a:p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(2) 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存活率為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”-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  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”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，代表</a:t>
            </a:r>
            <a:r>
              <a:rPr lang="zh-TW" altLang="zh-TW" sz="1100" dirty="0" smtClean="0"/>
              <a:t>無個案數可追蹤至第</a:t>
            </a:r>
            <a:r>
              <a:rPr lang="en-US" altLang="zh-TW" sz="1100" dirty="0" smtClean="0"/>
              <a:t>5</a:t>
            </a:r>
            <a:r>
              <a:rPr lang="zh-TW" altLang="zh-TW" sz="1100" dirty="0" smtClean="0"/>
              <a:t>年以求得存活率</a:t>
            </a:r>
            <a:r>
              <a:rPr lang="en-US" altLang="zh-TW" sz="1100" dirty="0" smtClean="0"/>
              <a:t>,</a:t>
            </a:r>
            <a:r>
              <a:rPr lang="zh-TW" altLang="en-US" sz="1100" dirty="0" smtClean="0"/>
              <a:t>或是</a:t>
            </a:r>
            <a:r>
              <a:rPr lang="zh-TW" altLang="zh-TW" sz="1100" dirty="0" smtClean="0"/>
              <a:t>所有個案於第</a:t>
            </a:r>
            <a:r>
              <a:rPr lang="en-US" altLang="zh-TW" sz="1100" dirty="0" smtClean="0"/>
              <a:t>5</a:t>
            </a:r>
            <a:r>
              <a:rPr lang="zh-TW" altLang="zh-TW" sz="1100" dirty="0" smtClean="0"/>
              <a:t>年以前已全部死亡</a:t>
            </a:r>
            <a:r>
              <a:rPr lang="zh-TW" altLang="en-US" sz="1100" dirty="0" smtClean="0"/>
              <a:t>。</a:t>
            </a:r>
            <a:endParaRPr lang="zh-TW" altLang="zh-TW" sz="1100" dirty="0">
              <a:latin typeface="微軟正黑體" pitchFamily="34" charset="-120"/>
              <a:ea typeface="微軟正黑體" pitchFamily="34" charset="-120"/>
              <a:cs typeface="Helvetica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621"/>
            <a:ext cx="1522601" cy="71647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176840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6" y="-171400"/>
            <a:ext cx="8229600" cy="792088"/>
          </a:xfrm>
        </p:spPr>
        <p:txBody>
          <a:bodyPr/>
          <a:lstStyle/>
          <a:p>
            <a:r>
              <a:rPr lang="zh-TW" altLang="en-US" sz="3200" dirty="0" smtClean="0"/>
              <a:t>口腔癌存活率</a:t>
            </a:r>
            <a:endParaRPr lang="zh-TW" altLang="en-US" sz="32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CE20B-11F2-46A7-BE20-93932E3F43B4}" type="slidenum">
              <a:rPr lang="zh-TW" altLang="en-US" smtClean="0"/>
              <a:pPr>
                <a:defRPr/>
              </a:pPr>
              <a:t>18</a:t>
            </a:fld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504720902"/>
              </p:ext>
            </p:extLst>
          </p:nvPr>
        </p:nvGraphicFramePr>
        <p:xfrm>
          <a:off x="251522" y="548680"/>
          <a:ext cx="8424933" cy="5829913"/>
        </p:xfrm>
        <a:graphic>
          <a:graphicData uri="http://schemas.openxmlformats.org/drawingml/2006/table">
            <a:tbl>
              <a:tblPr/>
              <a:tblGrid>
                <a:gridCol w="671951"/>
                <a:gridCol w="734492"/>
                <a:gridCol w="734492"/>
                <a:gridCol w="2094666"/>
                <a:gridCol w="2094666"/>
                <a:gridCol w="2094666"/>
              </a:tblGrid>
              <a:tr h="324314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期別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0" dirty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2019-2023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存活率：</a:t>
                      </a:r>
                      <a:r>
                        <a:rPr lang="zh-TW" altLang="en-US" sz="1200" b="1" kern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台大雲林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與全國</a:t>
                      </a:r>
                      <a:r>
                        <a:rPr lang="zh-TW" altLang="en-US" sz="1200" b="1" kern="0" dirty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五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年存活率比較</a:t>
                      </a:r>
                      <a:r>
                        <a:rPr lang="en-US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</a:rPr>
                        <a:t>(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百分比</a:t>
                      </a:r>
                      <a:r>
                        <a:rPr lang="en-US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</a:rPr>
                        <a:t>)</a:t>
                      </a:r>
                      <a:endParaRPr lang="zh-TW" altLang="zh-TW" sz="1200" b="1" kern="100" dirty="0" smtClea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929921"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期別人數</a:t>
                      </a:r>
                      <a:endParaRPr lang="en-US" alt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死亡個數</a:t>
                      </a:r>
                      <a:endParaRPr lang="en-US" alt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本院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</a:t>
                      </a:r>
                      <a:r>
                        <a:rPr lang="en-US" altLang="zh-TW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(</a:t>
                      </a:r>
                      <a:r>
                        <a:rPr lang="zh-TW" altLang="en-US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觀察</a:t>
                      </a:r>
                      <a:r>
                        <a:rPr lang="en-US" altLang="zh-TW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)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存活率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%95 % CI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全國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%</a:t>
                      </a:r>
                      <a:b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</a:b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95 % CI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醫學中心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%</a:t>
                      </a:r>
                      <a:b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</a:b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95 % CI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2121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第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1</a:t>
                      </a: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126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23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78.55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80.98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82.19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386687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( 64.72 , 92.39 )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( 78.79 , 83.17 )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( 79.67 , 84.71 )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6687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第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2</a:t>
                      </a: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77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23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74.62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74.03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75.34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386687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( 61.83 , 87.41 )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( 71.04 , 77.03 )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( 71.92 , 78.76 )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6687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第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3</a:t>
                      </a: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62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21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62.41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63.59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64.34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386687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( 42.94 , 81.87 )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( 59.47 , 67.71 )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( 59.57 , 69.11 )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6687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第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4</a:t>
                      </a: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169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93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45.99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42.21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44.70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386687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lang="zh-TW" altLang="zh-TW" sz="1100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( 31.90 , 60.07 )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( 40.00 , 44.43 )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( 42.10 , 47.30 )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6687"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第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4M0</a:t>
                      </a: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162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88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45.85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43.10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45.46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6687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( 31.22 , 60.49 )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( 40.85 , 45.35 )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( 42.83 , 48.10 )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6687"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en-US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第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4M1</a:t>
                      </a:r>
                      <a:r>
                        <a:rPr lang="zh-TW" altLang="en-US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期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6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5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16.67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8.62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10.37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6687">
                <a:tc vMerge="1">
                  <a:txBody>
                    <a:bodyPr/>
                    <a:lstStyle/>
                    <a:p>
                      <a:pPr algn="l" fontAlgn="ctr"/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r" fontAlgn="ctr"/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( 0.00 , 46.49 )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( 2.11 , 15.13 )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( 2.29 , 18.46 )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0" y="6427113"/>
            <a:ext cx="78488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</a:rPr>
              <a:t>(1)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藍字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</a:rPr>
              <a:t>: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代表某</a:t>
            </a:r>
            <a:r>
              <a:rPr lang="zh-TW" altLang="en-US" sz="1100" dirty="0" smtClean="0"/>
              <a:t>年齡層未滿</a:t>
            </a:r>
            <a:r>
              <a:rPr lang="en-US" altLang="zh-TW" sz="1100" dirty="0" smtClean="0"/>
              <a:t>10</a:t>
            </a:r>
            <a:r>
              <a:rPr lang="zh-TW" altLang="en-US" sz="1100" dirty="0" smtClean="0"/>
              <a:t>人，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無法進行年齡標準化調整，故改呈現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觀察存活率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及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95 </a:t>
            </a:r>
            <a:r>
              <a:rPr lang="en-US" altLang="zh-TW" sz="1100" dirty="0">
                <a:latin typeface="微軟正黑體" pitchFamily="34" charset="-120"/>
                <a:ea typeface="微軟正黑體" pitchFamily="34" charset="-120"/>
                <a:cs typeface="Helvetica"/>
              </a:rPr>
              <a:t>% 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CI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。</a:t>
            </a:r>
            <a:endParaRPr lang="en-US" altLang="zh-TW" sz="1100" dirty="0" smtClean="0">
              <a:latin typeface="微軟正黑體" pitchFamily="34" charset="-120"/>
              <a:ea typeface="微軟正黑體" pitchFamily="34" charset="-120"/>
              <a:cs typeface="Helvetica"/>
            </a:endParaRPr>
          </a:p>
          <a:p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(2) 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存活率為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”-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  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”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，代表</a:t>
            </a:r>
            <a:r>
              <a:rPr lang="zh-TW" altLang="zh-TW" sz="1100" dirty="0" smtClean="0"/>
              <a:t>無個案數可追蹤至第</a:t>
            </a:r>
            <a:r>
              <a:rPr lang="en-US" altLang="zh-TW" sz="1100" dirty="0" smtClean="0"/>
              <a:t>5</a:t>
            </a:r>
            <a:r>
              <a:rPr lang="zh-TW" altLang="zh-TW" sz="1100" dirty="0" smtClean="0"/>
              <a:t>年以求得存活率</a:t>
            </a:r>
            <a:r>
              <a:rPr lang="en-US" altLang="zh-TW" sz="1100" dirty="0" smtClean="0"/>
              <a:t>,</a:t>
            </a:r>
            <a:r>
              <a:rPr lang="zh-TW" altLang="en-US" sz="1100" dirty="0" smtClean="0"/>
              <a:t>或是</a:t>
            </a:r>
            <a:r>
              <a:rPr lang="zh-TW" altLang="zh-TW" sz="1100" dirty="0" smtClean="0"/>
              <a:t>所有個案於第</a:t>
            </a:r>
            <a:r>
              <a:rPr lang="en-US" altLang="zh-TW" sz="1100" dirty="0" smtClean="0"/>
              <a:t>5</a:t>
            </a:r>
            <a:r>
              <a:rPr lang="zh-TW" altLang="zh-TW" sz="1100" dirty="0" smtClean="0"/>
              <a:t>年以前已全部死亡</a:t>
            </a:r>
            <a:r>
              <a:rPr lang="zh-TW" altLang="en-US" sz="1100" dirty="0" smtClean="0"/>
              <a:t>。</a:t>
            </a:r>
            <a:endParaRPr lang="zh-TW" altLang="zh-TW" sz="1100" dirty="0">
              <a:latin typeface="微軟正黑體" pitchFamily="34" charset="-120"/>
              <a:ea typeface="微軟正黑體" pitchFamily="34" charset="-120"/>
              <a:cs typeface="Helvetica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621"/>
            <a:ext cx="1522601" cy="54705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473741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6" y="-171400"/>
            <a:ext cx="8229600" cy="936104"/>
          </a:xfrm>
        </p:spPr>
        <p:txBody>
          <a:bodyPr/>
          <a:lstStyle/>
          <a:p>
            <a:r>
              <a:rPr lang="zh-TW" altLang="en-US" sz="3200" dirty="0"/>
              <a:t>下咽</a:t>
            </a:r>
            <a:r>
              <a:rPr lang="zh-TW" altLang="en-US" sz="3200" dirty="0" smtClean="0"/>
              <a:t>癌存活率</a:t>
            </a:r>
            <a:endParaRPr lang="zh-TW" altLang="en-US" sz="32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CE20B-11F2-46A7-BE20-93932E3F43B4}" type="slidenum">
              <a:rPr lang="zh-TW" altLang="en-US" smtClean="0"/>
              <a:pPr>
                <a:defRPr/>
              </a:pPr>
              <a:t>19</a:t>
            </a:fld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4023455685"/>
              </p:ext>
            </p:extLst>
          </p:nvPr>
        </p:nvGraphicFramePr>
        <p:xfrm>
          <a:off x="323526" y="548680"/>
          <a:ext cx="8496945" cy="5829913"/>
        </p:xfrm>
        <a:graphic>
          <a:graphicData uri="http://schemas.openxmlformats.org/drawingml/2006/table">
            <a:tbl>
              <a:tblPr/>
              <a:tblGrid>
                <a:gridCol w="646171"/>
                <a:gridCol w="706312"/>
                <a:gridCol w="706312"/>
                <a:gridCol w="2014301"/>
                <a:gridCol w="2014301"/>
                <a:gridCol w="2409548"/>
              </a:tblGrid>
              <a:tr h="324314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期別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0" dirty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2019-2023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存活率：</a:t>
                      </a:r>
                      <a:r>
                        <a:rPr lang="zh-TW" altLang="en-US" sz="1200" b="1" kern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台大雲林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與全國</a:t>
                      </a:r>
                      <a:r>
                        <a:rPr lang="zh-TW" altLang="en-US" sz="1200" b="1" kern="0" dirty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五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年存活率比較</a:t>
                      </a:r>
                      <a:r>
                        <a:rPr lang="en-US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</a:rPr>
                        <a:t>(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百分比</a:t>
                      </a:r>
                      <a:r>
                        <a:rPr lang="en-US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</a:rPr>
                        <a:t>)</a:t>
                      </a:r>
                      <a:endParaRPr lang="zh-TW" altLang="zh-TW" sz="1200" b="1" kern="100" dirty="0" smtClea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929921"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期別人數</a:t>
                      </a:r>
                      <a:endParaRPr lang="en-US" alt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死亡個數</a:t>
                      </a:r>
                      <a:endParaRPr lang="en-US" alt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本院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</a:t>
                      </a:r>
                      <a:r>
                        <a:rPr lang="en-US" altLang="zh-TW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(</a:t>
                      </a:r>
                      <a:r>
                        <a:rPr lang="zh-TW" altLang="en-US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觀察</a:t>
                      </a:r>
                      <a:r>
                        <a:rPr lang="en-US" altLang="zh-TW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)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存活率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%95 % CI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全國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%</a:t>
                      </a:r>
                      <a:b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</a:b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95 % CI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醫學中心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%</a:t>
                      </a:r>
                      <a:b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</a:b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95 % CI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2121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第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1</a:t>
                      </a: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5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75.00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55.71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58.15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386687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( 32.57 , 100.00 )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( 45.71 , 65.71 )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( 47.89 , 68.40 )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6687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第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2</a:t>
                      </a: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8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5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37.50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46.16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51.83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386687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( 3.95 , 71.05 )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( 34.32 , 58.01 )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( 40.99 , 62.68 )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6687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第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3</a:t>
                      </a: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3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66.67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45.54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49.61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386687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( 13.32 , 100.00 )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( 34.65 , 56.43 )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( 37.60 , 61.62 )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6687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第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4</a:t>
                      </a: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63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34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45.09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29.61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31.39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386687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lang="zh-TW" altLang="zh-TW" sz="1100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( 27.42 , 62.75 )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( 26.11 , 33.11 )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( 26.96 , 35.83 )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6687"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第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4M0</a:t>
                      </a: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57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28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48.91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32.05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33.85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6687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( 30.05 , 67.77 )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( 28.27 , 35.83 )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( 29.12 , 38.58 )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6687"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en-US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第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4M1</a:t>
                      </a:r>
                      <a:r>
                        <a:rPr lang="zh-TW" altLang="en-US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期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6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6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-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5.94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6.12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6687">
                <a:tc vMerge="1">
                  <a:txBody>
                    <a:bodyPr/>
                    <a:lstStyle/>
                    <a:p>
                      <a:pPr algn="l" fontAlgn="ctr"/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( 0.67 , 11.21 )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( 0.00 , 13.16 )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0" y="6427113"/>
            <a:ext cx="78488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</a:rPr>
              <a:t>(1)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藍字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</a:rPr>
              <a:t>: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代表某</a:t>
            </a:r>
            <a:r>
              <a:rPr lang="zh-TW" altLang="en-US" sz="1100" dirty="0" smtClean="0"/>
              <a:t>年齡層未滿</a:t>
            </a:r>
            <a:r>
              <a:rPr lang="en-US" altLang="zh-TW" sz="1100" dirty="0" smtClean="0"/>
              <a:t>10</a:t>
            </a:r>
            <a:r>
              <a:rPr lang="zh-TW" altLang="en-US" sz="1100" dirty="0" smtClean="0"/>
              <a:t>人，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無法進行年齡標準化調整，故改呈現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觀察存活率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及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95 </a:t>
            </a:r>
            <a:r>
              <a:rPr lang="en-US" altLang="zh-TW" sz="1100" dirty="0">
                <a:latin typeface="微軟正黑體" pitchFamily="34" charset="-120"/>
                <a:ea typeface="微軟正黑體" pitchFamily="34" charset="-120"/>
                <a:cs typeface="Helvetica"/>
              </a:rPr>
              <a:t>% 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CI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。</a:t>
            </a:r>
            <a:endParaRPr lang="en-US" altLang="zh-TW" sz="1100" dirty="0" smtClean="0">
              <a:latin typeface="微軟正黑體" pitchFamily="34" charset="-120"/>
              <a:ea typeface="微軟正黑體" pitchFamily="34" charset="-120"/>
              <a:cs typeface="Helvetica"/>
            </a:endParaRPr>
          </a:p>
          <a:p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(2) 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存活率為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”-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  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”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，代表</a:t>
            </a:r>
            <a:r>
              <a:rPr lang="zh-TW" altLang="zh-TW" sz="1100" dirty="0" smtClean="0"/>
              <a:t>無個案數可追蹤至第</a:t>
            </a:r>
            <a:r>
              <a:rPr lang="en-US" altLang="zh-TW" sz="1100" dirty="0" smtClean="0"/>
              <a:t>5</a:t>
            </a:r>
            <a:r>
              <a:rPr lang="zh-TW" altLang="zh-TW" sz="1100" dirty="0" smtClean="0"/>
              <a:t>年以求得存活率</a:t>
            </a:r>
            <a:r>
              <a:rPr lang="en-US" altLang="zh-TW" sz="1100" dirty="0" smtClean="0"/>
              <a:t>,</a:t>
            </a:r>
            <a:r>
              <a:rPr lang="zh-TW" altLang="en-US" sz="1100" dirty="0" smtClean="0"/>
              <a:t>或是</a:t>
            </a:r>
            <a:r>
              <a:rPr lang="zh-TW" altLang="zh-TW" sz="1100" dirty="0" smtClean="0"/>
              <a:t>所有個案於第</a:t>
            </a:r>
            <a:r>
              <a:rPr lang="en-US" altLang="zh-TW" sz="1100" dirty="0" smtClean="0"/>
              <a:t>5</a:t>
            </a:r>
            <a:r>
              <a:rPr lang="zh-TW" altLang="zh-TW" sz="1100" dirty="0" smtClean="0"/>
              <a:t>年以前已全部死亡</a:t>
            </a:r>
            <a:r>
              <a:rPr lang="zh-TW" altLang="en-US" sz="1100" dirty="0" smtClean="0"/>
              <a:t>。</a:t>
            </a:r>
            <a:endParaRPr lang="zh-TW" altLang="zh-TW" sz="1100" dirty="0">
              <a:latin typeface="微軟正黑體" pitchFamily="34" charset="-120"/>
              <a:ea typeface="微軟正黑體" pitchFamily="34" charset="-120"/>
              <a:cs typeface="Helvetica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621"/>
            <a:ext cx="1522601" cy="54705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775116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6" y="-171400"/>
            <a:ext cx="8229600" cy="864096"/>
          </a:xfrm>
        </p:spPr>
        <p:txBody>
          <a:bodyPr/>
          <a:lstStyle/>
          <a:p>
            <a:r>
              <a:rPr lang="zh-TW" altLang="en-US" sz="3200" dirty="0" smtClean="0"/>
              <a:t>喉癌存活率</a:t>
            </a:r>
            <a:endParaRPr lang="zh-TW" altLang="en-US" sz="32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CE20B-11F2-46A7-BE20-93932E3F43B4}" type="slidenum">
              <a:rPr lang="zh-TW" altLang="en-US" smtClean="0"/>
              <a:pPr>
                <a:defRPr/>
              </a:pPr>
              <a:t>20</a:t>
            </a:fld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4087587379"/>
              </p:ext>
            </p:extLst>
          </p:nvPr>
        </p:nvGraphicFramePr>
        <p:xfrm>
          <a:off x="107502" y="620688"/>
          <a:ext cx="8784979" cy="5829913"/>
        </p:xfrm>
        <a:graphic>
          <a:graphicData uri="http://schemas.openxmlformats.org/drawingml/2006/table">
            <a:tbl>
              <a:tblPr/>
              <a:tblGrid>
                <a:gridCol w="700668"/>
                <a:gridCol w="765881"/>
                <a:gridCol w="765881"/>
                <a:gridCol w="2184183"/>
                <a:gridCol w="2184183"/>
                <a:gridCol w="2184183"/>
              </a:tblGrid>
              <a:tr h="324314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期別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0" dirty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2019-2023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存活率：</a:t>
                      </a:r>
                      <a:r>
                        <a:rPr lang="zh-TW" altLang="en-US" sz="1200" b="1" kern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台大雲林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與全國</a:t>
                      </a:r>
                      <a:r>
                        <a:rPr lang="zh-TW" altLang="en-US" sz="1200" b="1" kern="0" dirty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五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年存活率比較</a:t>
                      </a:r>
                      <a:r>
                        <a:rPr lang="en-US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</a:rPr>
                        <a:t>(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百分比</a:t>
                      </a:r>
                      <a:r>
                        <a:rPr lang="en-US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</a:rPr>
                        <a:t>)</a:t>
                      </a:r>
                      <a:endParaRPr lang="zh-TW" altLang="zh-TW" sz="1200" b="1" kern="100" dirty="0" smtClea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929921"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期別人數</a:t>
                      </a:r>
                      <a:endParaRPr lang="en-US" alt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死亡個數</a:t>
                      </a:r>
                      <a:endParaRPr lang="en-US" alt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本院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</a:t>
                      </a:r>
                      <a:r>
                        <a:rPr lang="en-US" altLang="zh-TW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(</a:t>
                      </a:r>
                      <a:r>
                        <a:rPr lang="zh-TW" altLang="en-US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觀察</a:t>
                      </a:r>
                      <a:r>
                        <a:rPr lang="en-US" altLang="zh-TW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)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存活率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%95 % CI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全國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%</a:t>
                      </a:r>
                      <a:b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</a:b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95 % CI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醫學中心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%</a:t>
                      </a:r>
                      <a:b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</a:b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95 % CI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2121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第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1</a:t>
                      </a: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16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4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71.79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77.95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78.79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386687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( 47.74 , 95.85 )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( 72.80 , 83.10 )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( 72.87 , 84.71 )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6687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第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2</a:t>
                      </a: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7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5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21.43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64.32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67.30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386687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( 0.00 , 56.33 )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( 54.62 , 74.02 )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( 56.72 , 77.88 )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6687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第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3</a:t>
                      </a: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5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2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54.87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57.84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386687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  <a:p>
                      <a:pPr algn="ctr"/>
                      <a:endParaRPr lang="zh-TW" altLang="en-US" sz="1200" b="1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( 45.14 , 64.61 )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( 46.68 , 68.99 )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6687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第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4</a:t>
                      </a: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19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12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35.09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36.47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39.31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386687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lang="zh-TW" altLang="zh-TW" sz="1100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( 13.02 , 57.15 )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( 28.82 , 44.12 )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( 29.89 , 48.73 )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6687"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第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4M0</a:t>
                      </a: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16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9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41.67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39.28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41.65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6687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( 16.75 , 66.58 )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( 31.17 , 47.39 )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( 32.69 , 50.62 )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337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en-US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第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4M1</a:t>
                      </a:r>
                      <a:r>
                        <a:rPr lang="zh-TW" altLang="en-US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期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3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3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 smtClean="0">
                          <a:latin typeface="+mj-lt"/>
                        </a:rPr>
                        <a:t>-</a:t>
                      </a:r>
                      <a:endParaRPr lang="zh-TW" altLang="en-US" sz="1200" b="1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-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-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0" y="6427113"/>
            <a:ext cx="78488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</a:rPr>
              <a:t>(1)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藍字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</a:rPr>
              <a:t>: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代表某</a:t>
            </a:r>
            <a:r>
              <a:rPr lang="zh-TW" altLang="en-US" sz="1100" dirty="0" smtClean="0"/>
              <a:t>年齡層未滿</a:t>
            </a:r>
            <a:r>
              <a:rPr lang="en-US" altLang="zh-TW" sz="1100" dirty="0" smtClean="0"/>
              <a:t>10</a:t>
            </a:r>
            <a:r>
              <a:rPr lang="zh-TW" altLang="en-US" sz="1100" dirty="0" smtClean="0"/>
              <a:t>人，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無法進行年齡標準化調整，故改呈現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觀察存活率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及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95 </a:t>
            </a:r>
            <a:r>
              <a:rPr lang="en-US" altLang="zh-TW" sz="1100" dirty="0">
                <a:latin typeface="微軟正黑體" pitchFamily="34" charset="-120"/>
                <a:ea typeface="微軟正黑體" pitchFamily="34" charset="-120"/>
                <a:cs typeface="Helvetica"/>
              </a:rPr>
              <a:t>% 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CI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。</a:t>
            </a:r>
            <a:endParaRPr lang="en-US" altLang="zh-TW" sz="1100" dirty="0" smtClean="0">
              <a:latin typeface="微軟正黑體" pitchFamily="34" charset="-120"/>
              <a:ea typeface="微軟正黑體" pitchFamily="34" charset="-120"/>
              <a:cs typeface="Helvetica"/>
            </a:endParaRPr>
          </a:p>
          <a:p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(2) 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存活率為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”-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  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”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，代表</a:t>
            </a:r>
            <a:r>
              <a:rPr lang="zh-TW" altLang="zh-TW" sz="1100" dirty="0" smtClean="0"/>
              <a:t>無個案數可追蹤至第</a:t>
            </a:r>
            <a:r>
              <a:rPr lang="en-US" altLang="zh-TW" sz="1100" dirty="0" smtClean="0"/>
              <a:t>5</a:t>
            </a:r>
            <a:r>
              <a:rPr lang="zh-TW" altLang="zh-TW" sz="1100" dirty="0" smtClean="0"/>
              <a:t>年以求得存活率</a:t>
            </a:r>
            <a:r>
              <a:rPr lang="en-US" altLang="zh-TW" sz="1100" dirty="0" smtClean="0"/>
              <a:t>,</a:t>
            </a:r>
            <a:r>
              <a:rPr lang="zh-TW" altLang="en-US" sz="1100" dirty="0" smtClean="0"/>
              <a:t>或是</a:t>
            </a:r>
            <a:r>
              <a:rPr lang="zh-TW" altLang="zh-TW" sz="1100" dirty="0" smtClean="0"/>
              <a:t>所有個案於第</a:t>
            </a:r>
            <a:r>
              <a:rPr lang="en-US" altLang="zh-TW" sz="1100" dirty="0" smtClean="0"/>
              <a:t>5</a:t>
            </a:r>
            <a:r>
              <a:rPr lang="zh-TW" altLang="zh-TW" sz="1100" dirty="0" smtClean="0"/>
              <a:t>年以前已全部死亡</a:t>
            </a:r>
            <a:r>
              <a:rPr lang="zh-TW" altLang="en-US" sz="1100" dirty="0" smtClean="0"/>
              <a:t>。</a:t>
            </a:r>
            <a:endParaRPr lang="zh-TW" altLang="zh-TW" sz="1100" dirty="0">
              <a:latin typeface="微軟正黑體" pitchFamily="34" charset="-120"/>
              <a:ea typeface="微軟正黑體" pitchFamily="34" charset="-120"/>
              <a:cs typeface="Helvetica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621"/>
            <a:ext cx="1522601" cy="61906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265983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6" y="-171400"/>
            <a:ext cx="8229600" cy="1143000"/>
          </a:xfrm>
        </p:spPr>
        <p:txBody>
          <a:bodyPr/>
          <a:lstStyle/>
          <a:p>
            <a:r>
              <a:rPr lang="zh-TW" altLang="en-US" sz="3200"/>
              <a:t>口咽癌</a:t>
            </a:r>
            <a:r>
              <a:rPr lang="en-US" altLang="zh-TW" sz="3200"/>
              <a:t>_</a:t>
            </a:r>
            <a:r>
              <a:rPr lang="en-US" altLang="zh-TW" sz="3200" smtClean="0"/>
              <a:t>P16+</a:t>
            </a:r>
            <a:r>
              <a:rPr lang="zh-TW" altLang="en-US" sz="3200" smtClean="0"/>
              <a:t>存活率</a:t>
            </a:r>
            <a:endParaRPr lang="zh-TW" altLang="en-US" sz="32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CE20B-11F2-46A7-BE20-93932E3F43B4}" type="slidenum">
              <a:rPr lang="zh-TW" altLang="en-US" smtClean="0"/>
              <a:pPr>
                <a:defRPr/>
              </a:pPr>
              <a:t>21</a:t>
            </a:fld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047550425"/>
              </p:ext>
            </p:extLst>
          </p:nvPr>
        </p:nvGraphicFramePr>
        <p:xfrm>
          <a:off x="179510" y="767436"/>
          <a:ext cx="8640962" cy="5253849"/>
        </p:xfrm>
        <a:graphic>
          <a:graphicData uri="http://schemas.openxmlformats.org/drawingml/2006/table">
            <a:tbl>
              <a:tblPr/>
              <a:tblGrid>
                <a:gridCol w="689182"/>
                <a:gridCol w="753326"/>
                <a:gridCol w="753326"/>
                <a:gridCol w="2148376"/>
                <a:gridCol w="2148376"/>
                <a:gridCol w="2148376"/>
              </a:tblGrid>
              <a:tr h="397813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期別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0" dirty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2019-2023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存活率：</a:t>
                      </a:r>
                      <a:r>
                        <a:rPr lang="zh-TW" altLang="en-US" sz="1200" b="1" kern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台大雲林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與全國</a:t>
                      </a:r>
                      <a:r>
                        <a:rPr lang="zh-TW" altLang="en-US" sz="1200" b="1" kern="0" dirty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五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年存活率比較</a:t>
                      </a:r>
                      <a:r>
                        <a:rPr lang="en-US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</a:rPr>
                        <a:t>(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百分比</a:t>
                      </a:r>
                      <a:r>
                        <a:rPr lang="en-US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</a:rPr>
                        <a:t>)</a:t>
                      </a:r>
                      <a:endParaRPr lang="zh-TW" altLang="zh-TW" sz="1200" b="1" kern="100" dirty="0" smtClea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140666"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期別人數</a:t>
                      </a:r>
                      <a:endParaRPr lang="en-US" alt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死亡個數</a:t>
                      </a:r>
                      <a:endParaRPr lang="en-US" alt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本院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</a:t>
                      </a:r>
                      <a:r>
                        <a:rPr lang="en-US" altLang="zh-TW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(</a:t>
                      </a:r>
                      <a:r>
                        <a:rPr lang="zh-TW" altLang="en-US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觀察</a:t>
                      </a:r>
                      <a:r>
                        <a:rPr lang="en-US" altLang="zh-TW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)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存活率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%95 % CI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全國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%</a:t>
                      </a:r>
                      <a:b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</a:b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95 % CI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醫學中心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%</a:t>
                      </a:r>
                      <a:b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</a:b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95 % CI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9512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第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1</a:t>
                      </a:r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11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2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71.11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83.59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86.51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( 35.88 , 100.00 )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( 77.32 , 89.86 )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( 79.75 , 93.26 )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43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第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2</a:t>
                      </a:r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3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3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i="0" u="none" strike="noStrike" kern="1200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70.28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71.41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i="0" u="none" strike="noStrike" kern="1200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( 59.14 , 81.41 )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( 61.64 , 81.17 )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4321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en-US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第</a:t>
                      </a:r>
                      <a:r>
                        <a:rPr lang="en-US" altLang="zh-TW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3</a:t>
                      </a:r>
                      <a:r>
                        <a:rPr lang="zh-TW" altLang="en-US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期</a:t>
                      </a:r>
                      <a:endParaRPr lang="zh-TW" altLang="zh-TW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5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3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40.00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49.52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54.46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( 0.00 , 82.94 )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( 36.98 , 62.06 )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( 42.51 , 66.41 )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4321">
                <a:tc rowSpan="2"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第</a:t>
                      </a: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4</a:t>
                      </a: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</a:t>
                      </a:r>
                      <a:endParaRPr lang="en-US" altLang="zh-TW" sz="1200" b="1" kern="1200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i="0" u="none" strike="noStrike" kern="1200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i="0" u="none" strike="noStrike" kern="1200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83.59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86.51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0" y="6427113"/>
            <a:ext cx="78488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</a:rPr>
              <a:t>(1)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藍字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</a:rPr>
              <a:t>: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代表某</a:t>
            </a:r>
            <a:r>
              <a:rPr lang="zh-TW" altLang="en-US" sz="1100" dirty="0" smtClean="0"/>
              <a:t>年齡層未滿</a:t>
            </a:r>
            <a:r>
              <a:rPr lang="en-US" altLang="zh-TW" sz="1100" dirty="0" smtClean="0"/>
              <a:t>10</a:t>
            </a:r>
            <a:r>
              <a:rPr lang="zh-TW" altLang="en-US" sz="1100" dirty="0" smtClean="0"/>
              <a:t>人，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無法進行年齡標準化調整，故改呈現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觀察存活率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及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95 </a:t>
            </a:r>
            <a:r>
              <a:rPr lang="en-US" altLang="zh-TW" sz="1100" dirty="0">
                <a:latin typeface="微軟正黑體" pitchFamily="34" charset="-120"/>
                <a:ea typeface="微軟正黑體" pitchFamily="34" charset="-120"/>
                <a:cs typeface="Helvetica"/>
              </a:rPr>
              <a:t>% 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CI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。</a:t>
            </a:r>
            <a:endParaRPr lang="en-US" altLang="zh-TW" sz="1100" dirty="0" smtClean="0">
              <a:latin typeface="微軟正黑體" pitchFamily="34" charset="-120"/>
              <a:ea typeface="微軟正黑體" pitchFamily="34" charset="-120"/>
              <a:cs typeface="Helvetica"/>
            </a:endParaRPr>
          </a:p>
          <a:p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(2) 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存活率為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”-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  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”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，代表</a:t>
            </a:r>
            <a:r>
              <a:rPr lang="zh-TW" altLang="zh-TW" sz="1100" dirty="0" smtClean="0"/>
              <a:t>無個案數可追蹤至第</a:t>
            </a:r>
            <a:r>
              <a:rPr lang="en-US" altLang="zh-TW" sz="1100" dirty="0" smtClean="0"/>
              <a:t>5</a:t>
            </a:r>
            <a:r>
              <a:rPr lang="zh-TW" altLang="zh-TW" sz="1100" dirty="0" smtClean="0"/>
              <a:t>年以求得存活率</a:t>
            </a:r>
            <a:r>
              <a:rPr lang="en-US" altLang="zh-TW" sz="1100" dirty="0" smtClean="0"/>
              <a:t>,</a:t>
            </a:r>
            <a:r>
              <a:rPr lang="zh-TW" altLang="en-US" sz="1100" dirty="0" smtClean="0"/>
              <a:t>或是</a:t>
            </a:r>
            <a:r>
              <a:rPr lang="zh-TW" altLang="zh-TW" sz="1100" dirty="0" smtClean="0"/>
              <a:t>所有個案於第</a:t>
            </a:r>
            <a:r>
              <a:rPr lang="en-US" altLang="zh-TW" sz="1100" dirty="0" smtClean="0"/>
              <a:t>5</a:t>
            </a:r>
            <a:r>
              <a:rPr lang="zh-TW" altLang="zh-TW" sz="1100" dirty="0" smtClean="0"/>
              <a:t>年以前已全部死亡</a:t>
            </a:r>
            <a:r>
              <a:rPr lang="zh-TW" altLang="en-US" sz="1100" dirty="0" smtClean="0"/>
              <a:t>。</a:t>
            </a:r>
            <a:endParaRPr lang="zh-TW" altLang="zh-TW" sz="1100" dirty="0">
              <a:latin typeface="微軟正黑體" pitchFamily="34" charset="-120"/>
              <a:ea typeface="微軟正黑體" pitchFamily="34" charset="-120"/>
              <a:cs typeface="Helvetica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621"/>
            <a:ext cx="1522601" cy="71647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411066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6" y="-171400"/>
            <a:ext cx="8229600" cy="792088"/>
          </a:xfrm>
        </p:spPr>
        <p:txBody>
          <a:bodyPr/>
          <a:lstStyle/>
          <a:p>
            <a:r>
              <a:rPr lang="zh-TW" altLang="en-US" sz="3200" dirty="0" smtClean="0"/>
              <a:t>口</a:t>
            </a:r>
            <a:r>
              <a:rPr lang="zh-TW" altLang="en-US" sz="3200" dirty="0"/>
              <a:t>咽癌</a:t>
            </a:r>
            <a:r>
              <a:rPr lang="en-US" altLang="zh-TW" sz="3200" dirty="0"/>
              <a:t>_P16-</a:t>
            </a:r>
            <a:r>
              <a:rPr lang="zh-TW" altLang="en-US" sz="3200" dirty="0" smtClean="0"/>
              <a:t>癌存活率</a:t>
            </a:r>
            <a:endParaRPr lang="zh-TW" altLang="en-US" sz="32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CE20B-11F2-46A7-BE20-93932E3F43B4}" type="slidenum">
              <a:rPr lang="zh-TW" altLang="en-US" smtClean="0"/>
              <a:pPr>
                <a:defRPr/>
              </a:pPr>
              <a:t>22</a:t>
            </a:fld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038441341"/>
              </p:ext>
            </p:extLst>
          </p:nvPr>
        </p:nvGraphicFramePr>
        <p:xfrm>
          <a:off x="179513" y="620688"/>
          <a:ext cx="8640960" cy="5829913"/>
        </p:xfrm>
        <a:graphic>
          <a:graphicData uri="http://schemas.openxmlformats.org/drawingml/2006/table">
            <a:tbl>
              <a:tblPr/>
              <a:tblGrid>
                <a:gridCol w="689182"/>
                <a:gridCol w="753325"/>
                <a:gridCol w="753325"/>
                <a:gridCol w="2148376"/>
                <a:gridCol w="2148376"/>
                <a:gridCol w="2148376"/>
              </a:tblGrid>
              <a:tr h="324314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期別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0" dirty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2019-2023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存活率：</a:t>
                      </a:r>
                      <a:r>
                        <a:rPr lang="zh-TW" altLang="en-US" sz="1200" b="1" kern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台大雲林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與全國</a:t>
                      </a:r>
                      <a:r>
                        <a:rPr lang="zh-TW" altLang="en-US" sz="1200" b="1" kern="0" dirty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五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年存活率比較</a:t>
                      </a:r>
                      <a:r>
                        <a:rPr lang="en-US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</a:rPr>
                        <a:t>(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百分比</a:t>
                      </a:r>
                      <a:r>
                        <a:rPr lang="en-US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</a:rPr>
                        <a:t>)</a:t>
                      </a:r>
                      <a:endParaRPr lang="zh-TW" altLang="zh-TW" sz="1200" b="1" kern="100" dirty="0" smtClea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929921"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期別人數</a:t>
                      </a:r>
                      <a:endParaRPr lang="en-US" alt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死亡個數</a:t>
                      </a:r>
                      <a:endParaRPr lang="en-US" alt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本院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</a:t>
                      </a:r>
                      <a:r>
                        <a:rPr lang="en-US" altLang="zh-TW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(</a:t>
                      </a:r>
                      <a:r>
                        <a:rPr lang="zh-TW" altLang="en-US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觀察</a:t>
                      </a:r>
                      <a:r>
                        <a:rPr lang="en-US" altLang="zh-TW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)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存活率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%95 % CI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全國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%</a:t>
                      </a:r>
                      <a:b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</a:b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95 % CI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醫學中心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%</a:t>
                      </a:r>
                      <a:b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</a:b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95 % CI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2121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第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1</a:t>
                      </a: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21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4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79.12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62.21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59.56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386687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( 60.55 , 97.70 )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( 54.11 , 70.31 )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( 52.43 , 66.69 )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6687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第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2</a:t>
                      </a: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15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5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58.67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49.66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50.40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386687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( 27.34 , 90.00 )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( 38.83 , 60.50 )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( 41.51 , 59.28 )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6687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第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3</a:t>
                      </a: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11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6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45.45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43.17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43.34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386687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( 16.03 , 74.88 )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( 31.47 , 54.87 )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( 33.87 , 52.82 )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6687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第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4</a:t>
                      </a: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56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40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22.93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28.83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26.89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386687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lang="zh-TW" altLang="zh-TW" sz="1100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( 9.68 , 36.17 )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( 24.29 , 33.37 )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( 23.33 , 30.44 )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6687"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第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4M0</a:t>
                      </a: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52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36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24.69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30.57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28.54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6687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( 10.54 , 38.84 )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( 25.77 , 35.38 )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( 24.76 , 32.32 )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6687"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en-US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第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4M1</a:t>
                      </a:r>
                      <a:r>
                        <a:rPr lang="zh-TW" altLang="en-US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期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4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4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1" i="0" u="none" strike="noStrike" kern="1200" dirty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7.49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8.16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6687">
                <a:tc vMerge="1">
                  <a:txBody>
                    <a:bodyPr/>
                    <a:lstStyle/>
                    <a:p>
                      <a:pPr algn="l" fontAlgn="ctr"/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i="0" u="none" strike="noStrike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-</a:t>
                      </a:r>
                      <a:r>
                        <a:rPr lang="zh-TW" altLang="en-US" sz="1200" b="1" i="0" u="none" strike="noStrike" kern="1200" dirty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( 2.13 , 12.85 )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( 0.78 , 15.54 )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0" y="6427113"/>
            <a:ext cx="78488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</a:rPr>
              <a:t>(1)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藍字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</a:rPr>
              <a:t>: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代表某</a:t>
            </a:r>
            <a:r>
              <a:rPr lang="zh-TW" altLang="en-US" sz="1100" dirty="0" smtClean="0"/>
              <a:t>年齡層未滿</a:t>
            </a:r>
            <a:r>
              <a:rPr lang="en-US" altLang="zh-TW" sz="1100" dirty="0" smtClean="0"/>
              <a:t>10</a:t>
            </a:r>
            <a:r>
              <a:rPr lang="zh-TW" altLang="en-US" sz="1100" dirty="0" smtClean="0"/>
              <a:t>人，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無法進行年齡標準化調整，故改呈現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觀察存活率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及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95 </a:t>
            </a:r>
            <a:r>
              <a:rPr lang="en-US" altLang="zh-TW" sz="1100" dirty="0">
                <a:latin typeface="微軟正黑體" pitchFamily="34" charset="-120"/>
                <a:ea typeface="微軟正黑體" pitchFamily="34" charset="-120"/>
                <a:cs typeface="Helvetica"/>
              </a:rPr>
              <a:t>% 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CI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。</a:t>
            </a:r>
            <a:endParaRPr lang="en-US" altLang="zh-TW" sz="1100" dirty="0" smtClean="0">
              <a:latin typeface="微軟正黑體" pitchFamily="34" charset="-120"/>
              <a:ea typeface="微軟正黑體" pitchFamily="34" charset="-120"/>
              <a:cs typeface="Helvetica"/>
            </a:endParaRPr>
          </a:p>
          <a:p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(2) 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存活率為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”-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  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”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，代表</a:t>
            </a:r>
            <a:r>
              <a:rPr lang="zh-TW" altLang="zh-TW" sz="1100" dirty="0" smtClean="0"/>
              <a:t>無個案數可追蹤至第</a:t>
            </a:r>
            <a:r>
              <a:rPr lang="en-US" altLang="zh-TW" sz="1100" dirty="0" smtClean="0"/>
              <a:t>5</a:t>
            </a:r>
            <a:r>
              <a:rPr lang="zh-TW" altLang="zh-TW" sz="1100" dirty="0" smtClean="0"/>
              <a:t>年以求得存活率</a:t>
            </a:r>
            <a:r>
              <a:rPr lang="en-US" altLang="zh-TW" sz="1100" dirty="0" smtClean="0"/>
              <a:t>,</a:t>
            </a:r>
            <a:r>
              <a:rPr lang="zh-TW" altLang="en-US" sz="1100" dirty="0" smtClean="0"/>
              <a:t>或是</a:t>
            </a:r>
            <a:r>
              <a:rPr lang="zh-TW" altLang="zh-TW" sz="1100" dirty="0" smtClean="0"/>
              <a:t>所有個案於第</a:t>
            </a:r>
            <a:r>
              <a:rPr lang="en-US" altLang="zh-TW" sz="1100" dirty="0" smtClean="0"/>
              <a:t>5</a:t>
            </a:r>
            <a:r>
              <a:rPr lang="zh-TW" altLang="zh-TW" sz="1100" dirty="0" smtClean="0"/>
              <a:t>年以前已全部死亡</a:t>
            </a:r>
            <a:r>
              <a:rPr lang="zh-TW" altLang="en-US" sz="1100" dirty="0" smtClean="0"/>
              <a:t>。</a:t>
            </a:r>
            <a:endParaRPr lang="zh-TW" altLang="zh-TW" sz="1100" dirty="0">
              <a:latin typeface="微軟正黑體" pitchFamily="34" charset="-120"/>
              <a:ea typeface="微軟正黑體" pitchFamily="34" charset="-120"/>
              <a:cs typeface="Helvetica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621"/>
            <a:ext cx="1522601" cy="71647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495126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6" y="-171400"/>
            <a:ext cx="8229600" cy="1143000"/>
          </a:xfrm>
        </p:spPr>
        <p:txBody>
          <a:bodyPr/>
          <a:lstStyle/>
          <a:p>
            <a:r>
              <a:rPr lang="zh-TW" altLang="en-US" sz="3200" smtClean="0"/>
              <a:t>膀胱癌存活率</a:t>
            </a:r>
            <a:endParaRPr lang="zh-TW" altLang="en-US" sz="32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CE20B-11F2-46A7-BE20-93932E3F43B4}" type="slidenum">
              <a:rPr lang="zh-TW" altLang="en-US" smtClean="0"/>
              <a:pPr>
                <a:defRPr/>
              </a:pPr>
              <a:t>23</a:t>
            </a:fld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350173825"/>
              </p:ext>
            </p:extLst>
          </p:nvPr>
        </p:nvGraphicFramePr>
        <p:xfrm>
          <a:off x="179510" y="767436"/>
          <a:ext cx="8640962" cy="5253849"/>
        </p:xfrm>
        <a:graphic>
          <a:graphicData uri="http://schemas.openxmlformats.org/drawingml/2006/table">
            <a:tbl>
              <a:tblPr/>
              <a:tblGrid>
                <a:gridCol w="689182"/>
                <a:gridCol w="753326"/>
                <a:gridCol w="753326"/>
                <a:gridCol w="2148376"/>
                <a:gridCol w="2148376"/>
                <a:gridCol w="2148376"/>
              </a:tblGrid>
              <a:tr h="397813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期別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0" dirty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2019-2023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存活率：</a:t>
                      </a:r>
                      <a:r>
                        <a:rPr lang="zh-TW" altLang="en-US" sz="1200" b="1" kern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台大雲林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與全國</a:t>
                      </a:r>
                      <a:r>
                        <a:rPr lang="zh-TW" altLang="en-US" sz="1200" b="1" kern="0" dirty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五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年存活率比較</a:t>
                      </a:r>
                      <a:r>
                        <a:rPr lang="en-US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</a:rPr>
                        <a:t>(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百分比</a:t>
                      </a:r>
                      <a:r>
                        <a:rPr lang="en-US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</a:rPr>
                        <a:t>)</a:t>
                      </a:r>
                      <a:endParaRPr lang="zh-TW" altLang="zh-TW" sz="1200" b="1" kern="100" dirty="0" smtClea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140666"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期別人數</a:t>
                      </a:r>
                      <a:endParaRPr lang="en-US" alt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死亡個數</a:t>
                      </a:r>
                      <a:endParaRPr lang="en-US" alt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本院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</a:t>
                      </a:r>
                      <a:r>
                        <a:rPr lang="en-US" altLang="zh-TW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(</a:t>
                      </a:r>
                      <a:r>
                        <a:rPr lang="zh-TW" altLang="en-US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觀察</a:t>
                      </a:r>
                      <a:r>
                        <a:rPr lang="en-US" altLang="zh-TW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)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存活率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%95 % CI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全國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%</a:t>
                      </a:r>
                      <a:b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</a:b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95 % CI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醫學中心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%</a:t>
                      </a:r>
                      <a:b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</a:b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95 % CI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9512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第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1</a:t>
                      </a:r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45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19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56.07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65.96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65.73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( 41.10 , 71.04 )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( 63.28 , 68.63 )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( 62.21 , 69.25 )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43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第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2</a:t>
                      </a:r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17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12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15.88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51.78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52.19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( 0.00 , 40.86 )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( 47.24 , 56.33 )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( 46.23 , 58.14 )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4321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en-US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第</a:t>
                      </a:r>
                      <a:r>
                        <a:rPr lang="en-US" altLang="zh-TW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3</a:t>
                      </a:r>
                      <a:r>
                        <a:rPr lang="zh-TW" altLang="en-US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期</a:t>
                      </a:r>
                      <a:endParaRPr lang="zh-TW" altLang="zh-TW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25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17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31.50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36.61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37.63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( 13.08 , 49.92 )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( 31.32 , 41.90 )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( 31.14 , 44.12 )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4321">
                <a:tc rowSpan="2"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第</a:t>
                      </a: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4</a:t>
                      </a: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</a:t>
                      </a:r>
                      <a:endParaRPr lang="en-US" altLang="zh-TW" sz="1200" b="1" kern="1200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2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50.00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9.84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10.25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33CC"/>
                          </a:solidFill>
                          <a:latin typeface="+mj-lt"/>
                        </a:rPr>
                        <a:t>( 0.00 , 100.00 )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( 5.25 , 14.42 )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( 4.35 , 16.15 )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0" y="6427113"/>
            <a:ext cx="78488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</a:rPr>
              <a:t>(1)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藍字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</a:rPr>
              <a:t>: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代表某</a:t>
            </a:r>
            <a:r>
              <a:rPr lang="zh-TW" altLang="en-US" sz="1100" dirty="0" smtClean="0"/>
              <a:t>年齡層未滿</a:t>
            </a:r>
            <a:r>
              <a:rPr lang="en-US" altLang="zh-TW" sz="1100" dirty="0" smtClean="0"/>
              <a:t>10</a:t>
            </a:r>
            <a:r>
              <a:rPr lang="zh-TW" altLang="en-US" sz="1100" dirty="0" smtClean="0"/>
              <a:t>人，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無法進行年齡標準化調整，故改呈現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觀察存活率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及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95 </a:t>
            </a:r>
            <a:r>
              <a:rPr lang="en-US" altLang="zh-TW" sz="1100" dirty="0">
                <a:latin typeface="微軟正黑體" pitchFamily="34" charset="-120"/>
                <a:ea typeface="微軟正黑體" pitchFamily="34" charset="-120"/>
                <a:cs typeface="Helvetica"/>
              </a:rPr>
              <a:t>% 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CI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。</a:t>
            </a:r>
            <a:endParaRPr lang="en-US" altLang="zh-TW" sz="1100" dirty="0" smtClean="0">
              <a:latin typeface="微軟正黑體" pitchFamily="34" charset="-120"/>
              <a:ea typeface="微軟正黑體" pitchFamily="34" charset="-120"/>
              <a:cs typeface="Helvetica"/>
            </a:endParaRPr>
          </a:p>
          <a:p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(2) 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存活率為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”-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  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”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，代表</a:t>
            </a:r>
            <a:r>
              <a:rPr lang="zh-TW" altLang="zh-TW" sz="1100" dirty="0" smtClean="0"/>
              <a:t>無個案數可追蹤至第</a:t>
            </a:r>
            <a:r>
              <a:rPr lang="en-US" altLang="zh-TW" sz="1100" dirty="0" smtClean="0"/>
              <a:t>5</a:t>
            </a:r>
            <a:r>
              <a:rPr lang="zh-TW" altLang="zh-TW" sz="1100" dirty="0" smtClean="0"/>
              <a:t>年以求得存活率</a:t>
            </a:r>
            <a:r>
              <a:rPr lang="en-US" altLang="zh-TW" sz="1100" dirty="0" smtClean="0"/>
              <a:t>,</a:t>
            </a:r>
            <a:r>
              <a:rPr lang="zh-TW" altLang="en-US" sz="1100" dirty="0" smtClean="0"/>
              <a:t>或是</a:t>
            </a:r>
            <a:r>
              <a:rPr lang="zh-TW" altLang="zh-TW" sz="1100" dirty="0" smtClean="0"/>
              <a:t>所有個案於第</a:t>
            </a:r>
            <a:r>
              <a:rPr lang="en-US" altLang="zh-TW" sz="1100" dirty="0" smtClean="0"/>
              <a:t>5</a:t>
            </a:r>
            <a:r>
              <a:rPr lang="zh-TW" altLang="zh-TW" sz="1100" dirty="0" smtClean="0"/>
              <a:t>年以前已全部死亡</a:t>
            </a:r>
            <a:r>
              <a:rPr lang="zh-TW" altLang="en-US" sz="1100" dirty="0" smtClean="0"/>
              <a:t>。</a:t>
            </a:r>
            <a:endParaRPr lang="zh-TW" altLang="zh-TW" sz="1100" dirty="0">
              <a:latin typeface="微軟正黑體" pitchFamily="34" charset="-120"/>
              <a:ea typeface="微軟正黑體" pitchFamily="34" charset="-120"/>
              <a:cs typeface="Helvetica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621"/>
            <a:ext cx="1522601" cy="71647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748775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6" y="-171400"/>
            <a:ext cx="8229600" cy="1143000"/>
          </a:xfrm>
        </p:spPr>
        <p:txBody>
          <a:bodyPr/>
          <a:lstStyle/>
          <a:p>
            <a:r>
              <a:rPr lang="zh-TW" altLang="en-US" sz="3200"/>
              <a:t>攝護腺</a:t>
            </a:r>
            <a:r>
              <a:rPr lang="zh-TW" altLang="en-US" sz="3200" smtClean="0"/>
              <a:t>癌存活率</a:t>
            </a:r>
            <a:endParaRPr lang="zh-TW" altLang="en-US" sz="32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CE20B-11F2-46A7-BE20-93932E3F43B4}" type="slidenum">
              <a:rPr lang="zh-TW" altLang="en-US" smtClean="0"/>
              <a:pPr>
                <a:defRPr/>
              </a:pPr>
              <a:t>24</a:t>
            </a:fld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60673145"/>
              </p:ext>
            </p:extLst>
          </p:nvPr>
        </p:nvGraphicFramePr>
        <p:xfrm>
          <a:off x="179510" y="767436"/>
          <a:ext cx="8640962" cy="5253849"/>
        </p:xfrm>
        <a:graphic>
          <a:graphicData uri="http://schemas.openxmlformats.org/drawingml/2006/table">
            <a:tbl>
              <a:tblPr/>
              <a:tblGrid>
                <a:gridCol w="689182"/>
                <a:gridCol w="753326"/>
                <a:gridCol w="753326"/>
                <a:gridCol w="2148376"/>
                <a:gridCol w="2148376"/>
                <a:gridCol w="2148376"/>
              </a:tblGrid>
              <a:tr h="397813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期別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0" dirty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2019-2023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存活率：</a:t>
                      </a:r>
                      <a:r>
                        <a:rPr lang="zh-TW" altLang="en-US" sz="1200" b="1" kern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台大雲林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與全國</a:t>
                      </a:r>
                      <a:r>
                        <a:rPr lang="zh-TW" altLang="en-US" sz="1200" b="1" kern="0" dirty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五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年存活率比較</a:t>
                      </a:r>
                      <a:r>
                        <a:rPr lang="en-US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</a:rPr>
                        <a:t>(</a:t>
                      </a:r>
                      <a:r>
                        <a:rPr lang="zh-TW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  <a:cs typeface="Times New Roman"/>
                        </a:rPr>
                        <a:t>百分比</a:t>
                      </a:r>
                      <a:r>
                        <a:rPr lang="en-US" altLang="zh-TW" sz="1200" b="1" kern="0" dirty="0" smtClea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+mj-lt"/>
                          <a:ea typeface="微軟正黑體" pitchFamily="34" charset="-120"/>
                        </a:rPr>
                        <a:t>)</a:t>
                      </a:r>
                      <a:endParaRPr lang="zh-TW" altLang="zh-TW" sz="1200" b="1" kern="100" dirty="0" smtClea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140666"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期別人數</a:t>
                      </a:r>
                      <a:endParaRPr lang="en-US" alt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死亡個數</a:t>
                      </a:r>
                      <a:endParaRPr lang="en-US" alt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本院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</a:t>
                      </a:r>
                      <a:r>
                        <a:rPr lang="en-US" altLang="zh-TW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(</a:t>
                      </a:r>
                      <a:r>
                        <a:rPr lang="zh-TW" altLang="en-US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觀察</a:t>
                      </a:r>
                      <a:r>
                        <a:rPr lang="en-US" altLang="zh-TW" sz="1200" b="1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)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存活率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%95 % CI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全國</a:t>
                      </a:r>
                      <a:endParaRPr lang="en-US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%</a:t>
                      </a:r>
                      <a:b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</a:br>
                      <a:r>
                        <a:rPr lang="en-US" altLang="zh-TW" sz="12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Helvetica"/>
                        </a:rPr>
                        <a:t>95 % CI</a:t>
                      </a:r>
                      <a:endParaRPr lang="zh-TW" altLang="zh-TW" sz="1200" b="1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Helvetic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醫學中心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年齡調整存活率</a:t>
                      </a: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%</a:t>
                      </a:r>
                      <a:b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</a:b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95 % CI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9512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第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1</a:t>
                      </a:r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134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21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72.26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81.39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81.48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( 57.23 , 87.30 )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( 77.97 , 84.81 )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( 77.04 , 85.93 )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43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第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2</a:t>
                      </a:r>
                      <a:r>
                        <a:rPr lang="zh-TW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</a:rPr>
                        <a:t>期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168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25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82.38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84.66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86.33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( 72.28 , 92.47 )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( 82.76 , 86.55 )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( 83.93 , 88.73 )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4321"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r>
                        <a:rPr lang="zh-TW" altLang="en-US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第</a:t>
                      </a:r>
                      <a:r>
                        <a:rPr lang="en-US" altLang="zh-TW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3</a:t>
                      </a:r>
                      <a:r>
                        <a:rPr lang="zh-TW" altLang="en-US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+mn-cs"/>
                        </a:rPr>
                        <a:t>期</a:t>
                      </a:r>
                      <a:endParaRPr lang="zh-TW" altLang="zh-TW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180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37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78.66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79.29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81.13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( 68.14 , 89.18 )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( 77.61 , 80.96 )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( 78.98 , 83.28 )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4321">
                <a:tc rowSpan="2"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第</a:t>
                      </a:r>
                      <a:r>
                        <a:rPr lang="en-US" altLang="zh-TW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4</a:t>
                      </a:r>
                      <a:r>
                        <a:rPr lang="zh-TW" alt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微軟正黑體" pitchFamily="34" charset="-120"/>
                          <a:cs typeface="Times New Roman"/>
                        </a:rPr>
                        <a:t>期</a:t>
                      </a:r>
                      <a:endParaRPr lang="en-US" altLang="zh-TW" sz="1200" b="1" kern="1200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itchFamily="34" charset="-120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161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+mj-lt"/>
                        </a:rPr>
                        <a:t>60</a:t>
                      </a:r>
                      <a:endParaRPr lang="zh-TW" altLang="en-US" sz="1200" dirty="0"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55.63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50.76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53.12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474321">
                <a:tc vMerge="1">
                  <a:txBody>
                    <a:bodyPr/>
                    <a:lstStyle/>
                    <a:p>
                      <a:pPr algn="l" fontAlgn="ctr"/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( 40.73 , 70.53 )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( 48.52 , 53.00 )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( 50.23 , 56.00 )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0" y="6427113"/>
            <a:ext cx="78488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</a:rPr>
              <a:t>(1)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藍字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</a:rPr>
              <a:t>: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代表某</a:t>
            </a:r>
            <a:r>
              <a:rPr lang="zh-TW" altLang="en-US" sz="1100" dirty="0" smtClean="0"/>
              <a:t>年齡層未滿</a:t>
            </a:r>
            <a:r>
              <a:rPr lang="en-US" altLang="zh-TW" sz="1100" dirty="0" smtClean="0"/>
              <a:t>10</a:t>
            </a:r>
            <a:r>
              <a:rPr lang="zh-TW" altLang="en-US" sz="1100" dirty="0" smtClean="0"/>
              <a:t>人，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無法進行年齡標準化調整，故改呈現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</a:rPr>
              <a:t>觀察存活率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及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95 </a:t>
            </a:r>
            <a:r>
              <a:rPr lang="en-US" altLang="zh-TW" sz="1100" dirty="0">
                <a:latin typeface="微軟正黑體" pitchFamily="34" charset="-120"/>
                <a:ea typeface="微軟正黑體" pitchFamily="34" charset="-120"/>
                <a:cs typeface="Helvetica"/>
              </a:rPr>
              <a:t>% 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CI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。</a:t>
            </a:r>
            <a:endParaRPr lang="en-US" altLang="zh-TW" sz="1100" dirty="0" smtClean="0">
              <a:latin typeface="微軟正黑體" pitchFamily="34" charset="-120"/>
              <a:ea typeface="微軟正黑體" pitchFamily="34" charset="-120"/>
              <a:cs typeface="Helvetica"/>
            </a:endParaRPr>
          </a:p>
          <a:p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(2) 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存活率為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”-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  </a:t>
            </a:r>
            <a:r>
              <a:rPr lang="en-US" altLang="zh-TW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”</a:t>
            </a:r>
            <a:r>
              <a:rPr lang="zh-TW" altLang="en-US" sz="1100" dirty="0" smtClean="0">
                <a:latin typeface="微軟正黑體" pitchFamily="34" charset="-120"/>
                <a:ea typeface="微軟正黑體" pitchFamily="34" charset="-120"/>
                <a:cs typeface="Helvetica"/>
              </a:rPr>
              <a:t>，代表</a:t>
            </a:r>
            <a:r>
              <a:rPr lang="zh-TW" altLang="zh-TW" sz="1100" dirty="0" smtClean="0"/>
              <a:t>無個案數可追蹤至第</a:t>
            </a:r>
            <a:r>
              <a:rPr lang="en-US" altLang="zh-TW" sz="1100" dirty="0" smtClean="0"/>
              <a:t>5</a:t>
            </a:r>
            <a:r>
              <a:rPr lang="zh-TW" altLang="zh-TW" sz="1100" dirty="0" smtClean="0"/>
              <a:t>年以求得存活率</a:t>
            </a:r>
            <a:r>
              <a:rPr lang="en-US" altLang="zh-TW" sz="1100" dirty="0" smtClean="0"/>
              <a:t>,</a:t>
            </a:r>
            <a:r>
              <a:rPr lang="zh-TW" altLang="en-US" sz="1100" dirty="0" smtClean="0"/>
              <a:t>或是</a:t>
            </a:r>
            <a:r>
              <a:rPr lang="zh-TW" altLang="zh-TW" sz="1100" dirty="0" smtClean="0"/>
              <a:t>所有個案於第</a:t>
            </a:r>
            <a:r>
              <a:rPr lang="en-US" altLang="zh-TW" sz="1100" dirty="0" smtClean="0"/>
              <a:t>5</a:t>
            </a:r>
            <a:r>
              <a:rPr lang="zh-TW" altLang="zh-TW" sz="1100" dirty="0" smtClean="0"/>
              <a:t>年以前已全部死亡</a:t>
            </a:r>
            <a:r>
              <a:rPr lang="zh-TW" altLang="en-US" sz="1100" dirty="0" smtClean="0"/>
              <a:t>。</a:t>
            </a:r>
            <a:endParaRPr lang="zh-TW" altLang="zh-TW" sz="1100" dirty="0">
              <a:latin typeface="微軟正黑體" pitchFamily="34" charset="-120"/>
              <a:ea typeface="微軟正黑體" pitchFamily="34" charset="-120"/>
              <a:cs typeface="Helvetica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621"/>
            <a:ext cx="1522601" cy="71647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091271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CDFBAFE329EB4CAFA082A1D463C7B3" ma:contentTypeVersion="13" ma:contentTypeDescription="Create a new document." ma:contentTypeScope="" ma:versionID="0efcddf8730c5c6108148206426fa2d7">
  <xsd:schema xmlns:xsd="http://www.w3.org/2001/XMLSchema" xmlns:xs="http://www.w3.org/2001/XMLSchema" xmlns:p="http://schemas.microsoft.com/office/2006/metadata/properties" xmlns:ns2="f51491c7-9055-4fab-946b-9a66e2ad5fcc" xmlns:ns3="2264aa67-494b-4919-a8ec-2898b5acdfc7" targetNamespace="http://schemas.microsoft.com/office/2006/metadata/properties" ma:root="true" ma:fieldsID="e685c52d9a788567bd52fd90f82ce5e2" ns2:_="" ns3:_="">
    <xsd:import namespace="f51491c7-9055-4fab-946b-9a66e2ad5fcc"/>
    <xsd:import namespace="2264aa67-494b-4919-a8ec-2898b5acdf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_x0032_0260730_x8f49__x79fb__x6e2c__x8a66_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1491c7-9055-4fab-946b-9a66e2ad5f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c67f2f6-5dc7-44b0-8f00-750adad2fef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x0032_0260730_x8f49__x79fb__x6e2c__x8a66_" ma:index="19" nillable="true" ma:displayName="20260730轉移測試" ma:format="Dropdown" ma:internalName="_x0032_0260730_x8f49__x79fb__x6e2c__x8a66_">
      <xsd:simpleType>
        <xsd:restriction base="dms:Text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64aa67-494b-4919-a8ec-2898b5acdfc7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daf805e2-dec4-4fbd-a4e7-60132c191dfd}" ma:internalName="TaxCatchAll" ma:showField="CatchAllData" ma:web="2264aa67-494b-4919-a8ec-2898b5acdf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x0032_0260730_x8f49__x79fb__x6e2c__x8a66_ xmlns="f51491c7-9055-4fab-946b-9a66e2ad5fcc" xsi:nil="true"/>
    <TaxCatchAll xmlns="2264aa67-494b-4919-a8ec-2898b5acdfc7" xsi:nil="true"/>
    <lcf76f155ced4ddcb4097134ff3c332f xmlns="f51491c7-9055-4fab-946b-9a66e2ad5fc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0D9778F-8FC2-4FC5-9A86-B7B1005B1D65}"/>
</file>

<file path=customXml/itemProps2.xml><?xml version="1.0" encoding="utf-8"?>
<ds:datastoreItem xmlns:ds="http://schemas.openxmlformats.org/officeDocument/2006/customXml" ds:itemID="{ACDEAFB0-EBCF-4424-9EE4-E5A7D0DEB5F2}"/>
</file>

<file path=customXml/itemProps3.xml><?xml version="1.0" encoding="utf-8"?>
<ds:datastoreItem xmlns:ds="http://schemas.openxmlformats.org/officeDocument/2006/customXml" ds:itemID="{301A29CD-E11F-49BE-BB01-E75D8BB1C1FE}"/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5043</Words>
  <Application>Microsoft Office PowerPoint</Application>
  <PresentationFormat>如螢幕大小 (4:3)</PresentationFormat>
  <Paragraphs>1364</Paragraphs>
  <Slides>24</Slides>
  <Notes>22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25" baseType="lpstr">
      <vt:lpstr>Office 佈景主題</vt:lpstr>
      <vt:lpstr>115年癌症存活率數據</vt:lpstr>
      <vt:lpstr>115年國健署回饋本院各癌別存活率</vt:lpstr>
      <vt:lpstr>結腸直腸癌-ALL存活率</vt:lpstr>
      <vt:lpstr>結腸癌存活率</vt:lpstr>
      <vt:lpstr>直腸癌存活率</vt:lpstr>
      <vt:lpstr>子宮頸癌FIGO分期存活率</vt:lpstr>
      <vt:lpstr>子宮體癌FIGO分期存活率</vt:lpstr>
      <vt:lpstr>卵巢癌FIGO分期存活率</vt:lpstr>
      <vt:lpstr>乳癌存活率</vt:lpstr>
      <vt:lpstr>肺癌 非小細胞癌-ALL存活率</vt:lpstr>
      <vt:lpstr>肺癌 非小細胞癌-腺癌存活率</vt:lpstr>
      <vt:lpstr>肺癌 非小細胞癌-鱗狀細胞癌存活率</vt:lpstr>
      <vt:lpstr>肺癌 -小細胞癌存活率</vt:lpstr>
      <vt:lpstr>食道癌存活率</vt:lpstr>
      <vt:lpstr>肝癌BCLC分期存活率</vt:lpstr>
      <vt:lpstr>胃癌存活率</vt:lpstr>
      <vt:lpstr>鼻咽癌存活率</vt:lpstr>
      <vt:lpstr>口腔癌存活率</vt:lpstr>
      <vt:lpstr>下咽癌存活率</vt:lpstr>
      <vt:lpstr>喉癌存活率</vt:lpstr>
      <vt:lpstr>口咽癌_P16+存活率</vt:lpstr>
      <vt:lpstr>口咽癌_P16-癌存活率</vt:lpstr>
      <vt:lpstr>膀胱癌存活率</vt:lpstr>
      <vt:lpstr>攝護腺癌存活率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YLH_User</dc:creator>
  <cp:lastModifiedBy>YLH_User</cp:lastModifiedBy>
  <cp:revision>76</cp:revision>
  <dcterms:created xsi:type="dcterms:W3CDTF">2026-10-14T08:19:28Z</dcterms:created>
  <dcterms:modified xsi:type="dcterms:W3CDTF">2026-10-20T09:17:40Z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0x01010058CDFBAFE329EB4CAFA082A1D463C7B3</vt:lpwstr>
  </property>
</Properties>
</file>